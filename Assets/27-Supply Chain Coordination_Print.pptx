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9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56" r:id="rId1"/>
  </p:sldMasterIdLst>
  <p:notesMasterIdLst>
    <p:notesMasterId r:id="rId33"/>
  </p:notesMasterIdLst>
  <p:handoutMasterIdLst>
    <p:handoutMasterId r:id="rId34"/>
  </p:handoutMasterIdLst>
  <p:sldIdLst>
    <p:sldId id="295" r:id="rId2"/>
    <p:sldId id="341" r:id="rId3"/>
    <p:sldId id="355" r:id="rId4"/>
    <p:sldId id="303" r:id="rId5"/>
    <p:sldId id="304" r:id="rId6"/>
    <p:sldId id="357" r:id="rId7"/>
    <p:sldId id="358" r:id="rId8"/>
    <p:sldId id="359" r:id="rId9"/>
    <p:sldId id="360" r:id="rId10"/>
    <p:sldId id="361" r:id="rId11"/>
    <p:sldId id="362" r:id="rId12"/>
    <p:sldId id="374" r:id="rId13"/>
    <p:sldId id="375" r:id="rId14"/>
    <p:sldId id="376" r:id="rId15"/>
    <p:sldId id="377" r:id="rId16"/>
    <p:sldId id="378" r:id="rId17"/>
    <p:sldId id="363" r:id="rId18"/>
    <p:sldId id="312" r:id="rId19"/>
    <p:sldId id="356" r:id="rId20"/>
    <p:sldId id="368" r:id="rId21"/>
    <p:sldId id="379" r:id="rId22"/>
    <p:sldId id="367" r:id="rId23"/>
    <p:sldId id="366" r:id="rId24"/>
    <p:sldId id="372" r:id="rId25"/>
    <p:sldId id="373" r:id="rId26"/>
    <p:sldId id="369" r:id="rId27"/>
    <p:sldId id="370" r:id="rId28"/>
    <p:sldId id="380" r:id="rId29"/>
    <p:sldId id="346" r:id="rId30"/>
    <p:sldId id="350" r:id="rId31"/>
    <p:sldId id="364" r:id="rId32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663300"/>
    <a:srgbClr val="A5A5A5"/>
    <a:srgbClr val="5B9BD5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147" autoAdjust="0"/>
    <p:restoredTop sz="87892" autoAdjust="0"/>
  </p:normalViewPr>
  <p:slideViewPr>
    <p:cSldViewPr snapToGrid="0">
      <p:cViewPr varScale="1">
        <p:scale>
          <a:sx n="67" d="100"/>
          <a:sy n="67" d="100"/>
        </p:scale>
        <p:origin x="816" y="60"/>
      </p:cViewPr>
      <p:guideLst/>
    </p:cSldViewPr>
  </p:slideViewPr>
  <p:outlineViewPr>
    <p:cViewPr>
      <p:scale>
        <a:sx n="33" d="100"/>
        <a:sy n="33" d="100"/>
      </p:scale>
      <p:origin x="0" y="-2112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1997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420\Dropbox\Teaching\361%20Operations%20Management\MGMT361_Fall_2016\28%20Supply%20Chain%20Coordination\Book1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Decentralized SC Profit</a:t>
            </a:r>
          </a:p>
        </c:rich>
      </c:tx>
      <c:layout>
        <c:manualLayout>
          <c:xMode val="edge"/>
          <c:yMode val="edge"/>
          <c:x val="0.19534011373578303"/>
          <c:y val="0.2083333333333333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5.5555555555555552E-2"/>
          <c:y val="0.17634259259259263"/>
          <c:w val="0.92777777777777781"/>
          <c:h val="0.6714577865266842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Sheet1!$A$5</c:f>
              <c:strCache>
                <c:ptCount val="1"/>
                <c:pt idx="0">
                  <c:v>College Apparel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Sheet1!$C$5</c:f>
              <c:numCache>
                <c:formatCode>General</c:formatCode>
                <c:ptCount val="1"/>
                <c:pt idx="0">
                  <c:v>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78-4026-82C2-141149ED7197}"/>
            </c:ext>
          </c:extLst>
        </c:ser>
        <c:ser>
          <c:idx val="1"/>
          <c:order val="1"/>
          <c:tx>
            <c:strRef>
              <c:f>Sheet1!$A$6</c:f>
              <c:strCache>
                <c:ptCount val="1"/>
                <c:pt idx="0">
                  <c:v>Uncaptured SC Profit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Sheet1!$C$6</c:f>
              <c:numCache>
                <c:formatCode>General</c:formatCode>
                <c:ptCount val="1"/>
                <c:pt idx="0">
                  <c:v>2500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78-4026-82C2-141149ED7197}"/>
            </c:ext>
          </c:extLst>
        </c:ser>
        <c:ser>
          <c:idx val="2"/>
          <c:order val="2"/>
          <c:tx>
            <c:strRef>
              <c:f>Sheet1!$A$7</c:f>
              <c:strCache>
                <c:ptCount val="1"/>
                <c:pt idx="0">
                  <c:v>Purdue Store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Sheet1!$C$7</c:f>
              <c:numCache>
                <c:formatCode>General</c:formatCode>
                <c:ptCount val="1"/>
                <c:pt idx="0">
                  <c:v>7500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78-4026-82C2-141149ED71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16526984"/>
        <c:axId val="116527376"/>
      </c:barChart>
      <c:catAx>
        <c:axId val="11652698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16527376"/>
        <c:crosses val="autoZero"/>
        <c:auto val="1"/>
        <c:lblAlgn val="ctr"/>
        <c:lblOffset val="100"/>
        <c:noMultiLvlLbl val="0"/>
      </c:catAx>
      <c:valAx>
        <c:axId val="11652737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165269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Decentralized SC Profit</a:t>
            </a:r>
          </a:p>
        </c:rich>
      </c:tx>
      <c:layout>
        <c:manualLayout>
          <c:xMode val="edge"/>
          <c:yMode val="edge"/>
          <c:x val="0.19534011373578303"/>
          <c:y val="0.2083333333333333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5.5555555555555552E-2"/>
          <c:y val="0.17634259259259263"/>
          <c:w val="0.92777777777777781"/>
          <c:h val="0.6714577865266842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[Book1.xlsx]Sheet1!$A$5</c:f>
              <c:strCache>
                <c:ptCount val="1"/>
                <c:pt idx="0">
                  <c:v>College Apparel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[Book1.xlsx]Sheet1!$C$5</c:f>
              <c:numCache>
                <c:formatCode>General</c:formatCode>
                <c:ptCount val="1"/>
                <c:pt idx="0">
                  <c:v>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7A0-485F-A709-DBFDE45F1090}"/>
            </c:ext>
          </c:extLst>
        </c:ser>
        <c:ser>
          <c:idx val="1"/>
          <c:order val="1"/>
          <c:tx>
            <c:strRef>
              <c:f>[Book1.xlsx]Sheet1!$A$6</c:f>
              <c:strCache>
                <c:ptCount val="1"/>
                <c:pt idx="0">
                  <c:v>Uncaptured SC Profit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[Book1.xlsx]Sheet1!$C$6</c:f>
              <c:numCache>
                <c:formatCode>General</c:formatCode>
                <c:ptCount val="1"/>
                <c:pt idx="0">
                  <c:v>2500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7A0-485F-A709-DBFDE45F1090}"/>
            </c:ext>
          </c:extLst>
        </c:ser>
        <c:ser>
          <c:idx val="2"/>
          <c:order val="2"/>
          <c:tx>
            <c:strRef>
              <c:f>[Book1.xlsx]Sheet1!$A$7</c:f>
              <c:strCache>
                <c:ptCount val="1"/>
                <c:pt idx="0">
                  <c:v>Purdue Store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[Book1.xlsx]Sheet1!$C$7</c:f>
              <c:numCache>
                <c:formatCode>General</c:formatCode>
                <c:ptCount val="1"/>
                <c:pt idx="0">
                  <c:v>7500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7A0-485F-A709-DBFDE45F10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34427808"/>
        <c:axId val="534427416"/>
      </c:barChart>
      <c:catAx>
        <c:axId val="53442780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34427416"/>
        <c:crosses val="autoZero"/>
        <c:auto val="1"/>
        <c:lblAlgn val="ctr"/>
        <c:lblOffset val="100"/>
        <c:noMultiLvlLbl val="0"/>
      </c:catAx>
      <c:valAx>
        <c:axId val="53442741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34427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Supply Chain Profit</a:t>
            </a:r>
          </a:p>
        </c:rich>
      </c:tx>
      <c:layout>
        <c:manualLayout>
          <c:xMode val="edge"/>
          <c:yMode val="edge"/>
          <c:x val="0.33658943917312739"/>
          <c:y val="0.1081559164758315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Sheet1!$A$5</c:f>
              <c:strCache>
                <c:ptCount val="1"/>
                <c:pt idx="0">
                  <c:v>College Apparel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Sheet1!$B$4:$C$4</c:f>
              <c:strCache>
                <c:ptCount val="2"/>
                <c:pt idx="0">
                  <c:v>Coordinated</c:v>
                </c:pt>
                <c:pt idx="1">
                  <c:v>Decentralized</c:v>
                </c:pt>
              </c:strCache>
            </c:strRef>
          </c:cat>
          <c:val>
            <c:numRef>
              <c:f>Sheet1!$B$5:$C$5</c:f>
              <c:numCache>
                <c:formatCode>General</c:formatCode>
                <c:ptCount val="2"/>
                <c:pt idx="0">
                  <c:v>7000</c:v>
                </c:pt>
                <c:pt idx="1">
                  <c:v>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AD-4748-B11D-118C043FB52B}"/>
            </c:ext>
          </c:extLst>
        </c:ser>
        <c:ser>
          <c:idx val="1"/>
          <c:order val="1"/>
          <c:tx>
            <c:strRef>
              <c:f>Sheet1!$A$6</c:f>
              <c:strCache>
                <c:ptCount val="1"/>
                <c:pt idx="0">
                  <c:v>Uncaptured SC Profit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Sheet1!$B$4:$C$4</c:f>
              <c:strCache>
                <c:ptCount val="2"/>
                <c:pt idx="0">
                  <c:v>Coordinated</c:v>
                </c:pt>
                <c:pt idx="1">
                  <c:v>Decentralized</c:v>
                </c:pt>
              </c:strCache>
            </c:strRef>
          </c:cat>
          <c:val>
            <c:numRef>
              <c:f>Sheet1!$B$6:$C$6</c:f>
              <c:numCache>
                <c:formatCode>General</c:formatCode>
                <c:ptCount val="2"/>
                <c:pt idx="0">
                  <c:v>0</c:v>
                </c:pt>
                <c:pt idx="1">
                  <c:v>2500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AAD-4748-B11D-118C043FB52B}"/>
            </c:ext>
          </c:extLst>
        </c:ser>
        <c:ser>
          <c:idx val="2"/>
          <c:order val="2"/>
          <c:tx>
            <c:strRef>
              <c:f>Sheet1!$A$7</c:f>
              <c:strCache>
                <c:ptCount val="1"/>
                <c:pt idx="0">
                  <c:v>Purdue Store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Sheet1!$B$4:$C$4</c:f>
              <c:strCache>
                <c:ptCount val="2"/>
                <c:pt idx="0">
                  <c:v>Coordinated</c:v>
                </c:pt>
                <c:pt idx="1">
                  <c:v>Decentralized</c:v>
                </c:pt>
              </c:strCache>
            </c:strRef>
          </c:cat>
          <c:val>
            <c:numRef>
              <c:f>Sheet1!$B$7:$C$7</c:f>
              <c:numCache>
                <c:formatCode>General</c:formatCode>
                <c:ptCount val="2"/>
                <c:pt idx="0">
                  <c:v>8000</c:v>
                </c:pt>
                <c:pt idx="1">
                  <c:v>7500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AAD-4748-B11D-118C043FB5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09999368"/>
        <c:axId val="410001720"/>
      </c:barChart>
      <c:catAx>
        <c:axId val="4099993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0001720"/>
        <c:crosses val="autoZero"/>
        <c:auto val="1"/>
        <c:lblAlgn val="ctr"/>
        <c:lblOffset val="100"/>
        <c:noMultiLvlLbl val="0"/>
      </c:catAx>
      <c:valAx>
        <c:axId val="41000172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099993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7613105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3037840" cy="466434"/>
          </a:xfrm>
          <a:prstGeom prst="rect">
            <a:avLst/>
          </a:prstGeom>
        </p:spPr>
        <p:txBody>
          <a:bodyPr vert="horz" lIns="93150" tIns="46576" rIns="93150" bIns="4657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2"/>
            <a:ext cx="3037840" cy="466434"/>
          </a:xfrm>
          <a:prstGeom prst="rect">
            <a:avLst/>
          </a:prstGeom>
        </p:spPr>
        <p:txBody>
          <a:bodyPr vert="horz" lIns="93150" tIns="46576" rIns="93150" bIns="46576" rtlCol="0"/>
          <a:lstStyle>
            <a:lvl1pPr algn="r">
              <a:defRPr sz="1200"/>
            </a:lvl1pPr>
          </a:lstStyle>
          <a:p>
            <a:r>
              <a:rPr lang="en-US"/>
              <a:t>11/19/2014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50" tIns="46576" rIns="93150" bIns="4657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4"/>
            <a:ext cx="5608320" cy="3660458"/>
          </a:xfrm>
          <a:prstGeom prst="rect">
            <a:avLst/>
          </a:prstGeom>
        </p:spPr>
        <p:txBody>
          <a:bodyPr vert="horz" lIns="93150" tIns="46576" rIns="93150" bIns="4657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70"/>
            <a:ext cx="3037840" cy="466433"/>
          </a:xfrm>
          <a:prstGeom prst="rect">
            <a:avLst/>
          </a:prstGeom>
        </p:spPr>
        <p:txBody>
          <a:bodyPr vert="horz" lIns="93150" tIns="46576" rIns="93150" bIns="4657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70"/>
            <a:ext cx="3037840" cy="466433"/>
          </a:xfrm>
          <a:prstGeom prst="rect">
            <a:avLst/>
          </a:prstGeom>
        </p:spPr>
        <p:txBody>
          <a:bodyPr vert="horz" lIns="93150" tIns="46576" rIns="93150" bIns="46576" rtlCol="0" anchor="b"/>
          <a:lstStyle>
            <a:lvl1pPr algn="r">
              <a:defRPr sz="1200"/>
            </a:lvl1pPr>
          </a:lstStyle>
          <a:p>
            <a:fld id="{1E61018C-566D-4DA9-B48F-D4DDEE331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82009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4059131" y="8976207"/>
            <a:ext cx="3105837" cy="472997"/>
          </a:xfrm>
          <a:prstGeom prst="rect">
            <a:avLst/>
          </a:prstGeom>
          <a:noFill/>
        </p:spPr>
        <p:txBody>
          <a:bodyPr/>
          <a:lstStyle/>
          <a:p>
            <a:fld id="{19C7CF87-2C57-4C76-AFB5-CB74304B4FC7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22375" y="708025"/>
            <a:ext cx="4725988" cy="3544888"/>
          </a:xfrm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4878" y="4489707"/>
            <a:ext cx="5256448" cy="4252165"/>
          </a:xfrm>
          <a:prstGeom prst="rect">
            <a:avLst/>
          </a:prstGeom>
          <a:noFill/>
          <a:ln/>
        </p:spPr>
        <p:txBody>
          <a:bodyPr/>
          <a:lstStyle/>
          <a:p>
            <a:pPr eaLnBrk="1" hangingPunct="1"/>
            <a:r>
              <a:rPr lang="en-US" dirty="0"/>
              <a:t>Season</a:t>
            </a:r>
            <a:r>
              <a:rPr lang="en-US" baseline="0" dirty="0"/>
              <a:t> 2, episode 18</a:t>
            </a:r>
          </a:p>
          <a:p>
            <a:pPr eaLnBrk="1" hangingPunct="1"/>
            <a:r>
              <a:rPr lang="en-US" baseline="0" dirty="0"/>
              <a:t>Penny Blossoms production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11/19/2014</a:t>
            </a:r>
          </a:p>
        </p:txBody>
      </p:sp>
    </p:spTree>
    <p:extLst>
      <p:ext uri="{BB962C8B-B14F-4D97-AF65-F5344CB8AC3E}">
        <p14:creationId xmlns:p14="http://schemas.microsoft.com/office/powerpoint/2010/main" val="27261708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Process Analysis: how</a:t>
            </a:r>
            <a:r>
              <a:rPr lang="en-US" b="1" baseline="0" dirty="0">
                <a:solidFill>
                  <a:srgbClr val="FF0000"/>
                </a:solidFill>
              </a:rPr>
              <a:t> can we improve a production or service process? How to assign jobs to equipment or workers?</a:t>
            </a:r>
            <a:endParaRPr lang="en-US" b="1" dirty="0">
              <a:solidFill>
                <a:srgbClr val="FF0000"/>
              </a:solidFill>
            </a:endParaRP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So far, no variability, everything</a:t>
            </a:r>
            <a:r>
              <a:rPr lang="en-US" b="1" baseline="0" dirty="0">
                <a:solidFill>
                  <a:srgbClr val="FF0000"/>
                </a:solidFill>
              </a:rPr>
              <a:t> is on average</a:t>
            </a:r>
          </a:p>
          <a:p>
            <a:r>
              <a:rPr lang="en-US" b="1" baseline="0" dirty="0">
                <a:solidFill>
                  <a:srgbClr val="FF0000"/>
                </a:solidFill>
              </a:rPr>
              <a:t>Variability and its impact on process performance: waiting times</a:t>
            </a:r>
          </a:p>
          <a:p>
            <a:r>
              <a:rPr lang="en-US" b="1" baseline="0" dirty="0">
                <a:solidFill>
                  <a:srgbClr val="FF0000"/>
                </a:solidFill>
              </a:rPr>
              <a:t>Quality Management – how to detect quality issues and to control the quality?</a:t>
            </a:r>
          </a:p>
          <a:p>
            <a:r>
              <a:rPr lang="en-US" b="1" baseline="0" dirty="0">
                <a:solidFill>
                  <a:srgbClr val="FF0000"/>
                </a:solidFill>
              </a:rPr>
              <a:t>Inventory management – how many units to keep in inventory</a:t>
            </a:r>
          </a:p>
          <a:p>
            <a:r>
              <a:rPr lang="en-US" b="1" baseline="0" dirty="0">
                <a:solidFill>
                  <a:srgbClr val="FF0000"/>
                </a:solidFill>
              </a:rPr>
              <a:t>Production planning – how many units to produce or order</a:t>
            </a:r>
          </a:p>
          <a:p>
            <a:r>
              <a:rPr lang="en-US" b="1" baseline="0" dirty="0">
                <a:solidFill>
                  <a:srgbClr val="FF0000"/>
                </a:solidFill>
              </a:rPr>
              <a:t>Supply chain management – how do parties in a SC interact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44171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Beer</a:t>
            </a:r>
            <a:r>
              <a:rPr lang="en-US" baseline="0" dirty="0"/>
              <a:t> game</a:t>
            </a:r>
            <a:endParaRPr lang="en-US" dirty="0"/>
          </a:p>
        </p:txBody>
      </p:sp>
      <p:sp>
        <p:nvSpPr>
          <p:cNvPr id="32772" name="Slide Number Placeholder 4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300">
                <a:solidFill>
                  <a:schemeClr val="tx1"/>
                </a:solidFill>
                <a:latin typeface="Tahoma" pitchFamily="34" charset="0"/>
              </a:defRPr>
            </a:lvl1pPr>
            <a:lvl2pPr marL="729522" indent="-280585" eaLnBrk="0" hangingPunct="0">
              <a:defRPr sz="2300">
                <a:solidFill>
                  <a:schemeClr val="tx1"/>
                </a:solidFill>
                <a:latin typeface="Tahoma" pitchFamily="34" charset="0"/>
              </a:defRPr>
            </a:lvl2pPr>
            <a:lvl3pPr marL="1122343" indent="-224469" eaLnBrk="0" hangingPunct="0">
              <a:defRPr sz="2300">
                <a:solidFill>
                  <a:schemeClr val="tx1"/>
                </a:solidFill>
                <a:latin typeface="Tahoma" pitchFamily="34" charset="0"/>
              </a:defRPr>
            </a:lvl3pPr>
            <a:lvl4pPr marL="1571278" indent="-224469" eaLnBrk="0" hangingPunct="0">
              <a:defRPr sz="2300">
                <a:solidFill>
                  <a:schemeClr val="tx1"/>
                </a:solidFill>
                <a:latin typeface="Tahoma" pitchFamily="34" charset="0"/>
              </a:defRPr>
            </a:lvl4pPr>
            <a:lvl5pPr marL="2020215" indent="-224469" eaLnBrk="0" hangingPunct="0">
              <a:defRPr sz="2300">
                <a:solidFill>
                  <a:schemeClr val="tx1"/>
                </a:solidFill>
                <a:latin typeface="Tahoma" pitchFamily="34" charset="0"/>
              </a:defRPr>
            </a:lvl5pPr>
            <a:lvl6pPr marL="2469152" indent="-224469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ahoma" pitchFamily="34" charset="0"/>
              </a:defRPr>
            </a:lvl6pPr>
            <a:lvl7pPr marL="2918090" indent="-224469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ahoma" pitchFamily="34" charset="0"/>
              </a:defRPr>
            </a:lvl7pPr>
            <a:lvl8pPr marL="3367025" indent="-224469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ahoma" pitchFamily="34" charset="0"/>
              </a:defRPr>
            </a:lvl8pPr>
            <a:lvl9pPr marL="3815962" indent="-224469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0C56A1B2-94B5-4FE1-9FFE-B2CED20304C4}" type="slidenum">
              <a:rPr lang="en-US" sz="1200">
                <a:latin typeface="Times New Roman" pitchFamily="18" charset="0"/>
              </a:rPr>
              <a:pPr/>
              <a:t>3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11/19/2014</a:t>
            </a:r>
          </a:p>
        </p:txBody>
      </p:sp>
    </p:spTree>
    <p:extLst>
      <p:ext uri="{BB962C8B-B14F-4D97-AF65-F5344CB8AC3E}">
        <p14:creationId xmlns:p14="http://schemas.microsoft.com/office/powerpoint/2010/main" val="27856500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Incentive conflicts that can occur in the absence of the bullwhip effect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11/19/2014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E61018C-566D-4DA9-B48F-D4DDEE33155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6394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85075" indent="-30195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07807" indent="-241562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90930" indent="-241562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4052" indent="-241562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57175" indent="-241562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140297" indent="-241562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23421" indent="-241562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06544" indent="-241562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8A89129-A9BE-4BFB-AF17-36503CFED472}" type="slidenum">
              <a:rPr lang="en-US" altLang="zh-CN"/>
              <a:pPr eaLnBrk="1" hangingPunct="1"/>
              <a:t>5</a:t>
            </a:fld>
            <a:endParaRPr lang="en-US" altLang="zh-CN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06363" y="1592263"/>
            <a:ext cx="5727701" cy="4295775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11/19/2014</a:t>
            </a:r>
          </a:p>
        </p:txBody>
      </p:sp>
    </p:spTree>
    <p:extLst>
      <p:ext uri="{BB962C8B-B14F-4D97-AF65-F5344CB8AC3E}">
        <p14:creationId xmlns:p14="http://schemas.microsoft.com/office/powerpoint/2010/main" val="27824617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56844" indent="-29109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64376" indent="-2328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30127" indent="-2328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95877" indent="-2328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61627" indent="-232875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27377" indent="-232875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93127" indent="-232875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58877" indent="-232875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3EE662F-B439-43F1-8E48-030A50EA7CA8}" type="slidenum">
              <a:rPr lang="en-US" altLang="zh-CN"/>
              <a:pPr eaLnBrk="1" hangingPunct="1"/>
              <a:t>6</a:t>
            </a:fld>
            <a:endParaRPr lang="en-US" altLang="zh-CN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11/19/2014</a:t>
            </a:r>
          </a:p>
        </p:txBody>
      </p:sp>
    </p:spTree>
    <p:extLst>
      <p:ext uri="{BB962C8B-B14F-4D97-AF65-F5344CB8AC3E}">
        <p14:creationId xmlns:p14="http://schemas.microsoft.com/office/powerpoint/2010/main" val="4611508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56844" indent="-29109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64376" indent="-2328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30127" indent="-2328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95877" indent="-2328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61627" indent="-232875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27377" indent="-232875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93127" indent="-232875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58877" indent="-232875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3EE662F-B439-43F1-8E48-030A50EA7CA8}" type="slidenum">
              <a:rPr lang="en-US" altLang="zh-CN"/>
              <a:pPr eaLnBrk="1" hangingPunct="1"/>
              <a:t>7</a:t>
            </a:fld>
            <a:endParaRPr lang="en-US" altLang="zh-CN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dirty="0">
                <a:latin typeface="Arial" panose="020B0604020202020204" pitchFamily="34" charset="0"/>
              </a:rPr>
              <a:t>Supply</a:t>
            </a:r>
            <a:r>
              <a:rPr lang="en-US" altLang="en-US" baseline="0" dirty="0">
                <a:latin typeface="Arial" panose="020B0604020202020204" pitchFamily="34" charset="0"/>
              </a:rPr>
              <a:t> chain optimal quantity because it is the quantity that maximizes the integrated supply chain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11/19/2014</a:t>
            </a:r>
          </a:p>
        </p:txBody>
      </p:sp>
    </p:spTree>
    <p:extLst>
      <p:ext uri="{BB962C8B-B14F-4D97-AF65-F5344CB8AC3E}">
        <p14:creationId xmlns:p14="http://schemas.microsoft.com/office/powerpoint/2010/main" val="4397830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56844" indent="-29109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64376" indent="-2328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30127" indent="-2328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95877" indent="-2328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61627" indent="-232875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27377" indent="-232875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93127" indent="-232875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58877" indent="-232875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3941A0D-C346-4B02-95D2-EDA88CA85E9C}" type="slidenum">
              <a:rPr lang="en-US" altLang="zh-CN"/>
              <a:pPr eaLnBrk="1" hangingPunct="1"/>
              <a:t>8</a:t>
            </a:fld>
            <a:endParaRPr lang="en-US" altLang="zh-CN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11/19/2014</a:t>
            </a:r>
          </a:p>
        </p:txBody>
      </p:sp>
    </p:spTree>
    <p:extLst>
      <p:ext uri="{BB962C8B-B14F-4D97-AF65-F5344CB8AC3E}">
        <p14:creationId xmlns:p14="http://schemas.microsoft.com/office/powerpoint/2010/main" val="19273190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56844" indent="-29109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64376" indent="-2328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30127" indent="-2328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95877" indent="-2328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61627" indent="-232875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27377" indent="-232875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93127" indent="-232875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58877" indent="-232875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741E523-B9F8-4047-A78E-C10847A79024}" type="slidenum">
              <a:rPr lang="en-US" altLang="zh-CN"/>
              <a:pPr eaLnBrk="1" hangingPunct="1"/>
              <a:t>9</a:t>
            </a:fld>
            <a:endParaRPr lang="en-US" altLang="zh-CN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11/19/2014</a:t>
            </a:r>
          </a:p>
        </p:txBody>
      </p:sp>
    </p:spTree>
    <p:extLst>
      <p:ext uri="{BB962C8B-B14F-4D97-AF65-F5344CB8AC3E}">
        <p14:creationId xmlns:p14="http://schemas.microsoft.com/office/powerpoint/2010/main" val="4163370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56844" indent="-29109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64376" indent="-2328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30127" indent="-2328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95877" indent="-2328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61627" indent="-232875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27377" indent="-232875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93127" indent="-232875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58877" indent="-232875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D47A53B-098C-411D-95F1-4BE33C51E01B}" type="slidenum">
              <a:rPr lang="en-US" altLang="zh-CN"/>
              <a:pPr eaLnBrk="1" hangingPunct="1"/>
              <a:t>10</a:t>
            </a:fld>
            <a:endParaRPr lang="en-US" altLang="zh-CN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11/19/2014</a:t>
            </a:r>
          </a:p>
        </p:txBody>
      </p:sp>
    </p:spTree>
    <p:extLst>
      <p:ext uri="{BB962C8B-B14F-4D97-AF65-F5344CB8AC3E}">
        <p14:creationId xmlns:p14="http://schemas.microsoft.com/office/powerpoint/2010/main" val="41714680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56844" indent="-29109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64376" indent="-2328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30127" indent="-2328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95877" indent="-2328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61627" indent="-232875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27377" indent="-232875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93127" indent="-232875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58877" indent="-232875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D47A53B-098C-411D-95F1-4BE33C51E01B}" type="slidenum">
              <a:rPr lang="en-US" altLang="zh-CN"/>
              <a:pPr eaLnBrk="1" hangingPunct="1"/>
              <a:t>11</a:t>
            </a:fld>
            <a:endParaRPr lang="en-US" altLang="zh-CN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11/19/2014</a:t>
            </a:r>
          </a:p>
        </p:txBody>
      </p:sp>
    </p:spTree>
    <p:extLst>
      <p:ext uri="{BB962C8B-B14F-4D97-AF65-F5344CB8AC3E}">
        <p14:creationId xmlns:p14="http://schemas.microsoft.com/office/powerpoint/2010/main" val="21380827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56844" indent="-29109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64376" indent="-2328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30127" indent="-2328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95877" indent="-2328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61627" indent="-232875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27377" indent="-232875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93127" indent="-232875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58877" indent="-232875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3EE662F-B439-43F1-8E48-030A50EA7CA8}" type="slidenum">
              <a:rPr lang="en-US" altLang="zh-CN"/>
              <a:pPr eaLnBrk="1" hangingPunct="1"/>
              <a:t>12</a:t>
            </a:fld>
            <a:endParaRPr lang="en-US" altLang="zh-CN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dirty="0">
                <a:latin typeface="Arial" panose="020B0604020202020204" pitchFamily="34" charset="0"/>
              </a:rPr>
              <a:t>Supply</a:t>
            </a:r>
            <a:r>
              <a:rPr lang="en-US" altLang="en-US" baseline="0" dirty="0">
                <a:latin typeface="Arial" panose="020B0604020202020204" pitchFamily="34" charset="0"/>
              </a:rPr>
              <a:t> chain optimal quantity because it is the quantity that maximizes the integrated supply chain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11/19/2014</a:t>
            </a:r>
          </a:p>
        </p:txBody>
      </p:sp>
    </p:spTree>
    <p:extLst>
      <p:ext uri="{BB962C8B-B14F-4D97-AF65-F5344CB8AC3E}">
        <p14:creationId xmlns:p14="http://schemas.microsoft.com/office/powerpoint/2010/main" val="4397830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56844" indent="-29109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64376" indent="-2328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30127" indent="-2328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95877" indent="-2328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61627" indent="-232875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27377" indent="-232875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93127" indent="-232875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58877" indent="-232875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3941A0D-C346-4B02-95D2-EDA88CA85E9C}" type="slidenum">
              <a:rPr lang="en-US" altLang="zh-CN"/>
              <a:pPr eaLnBrk="1" hangingPunct="1"/>
              <a:t>13</a:t>
            </a:fld>
            <a:endParaRPr lang="en-US" altLang="zh-CN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11/19/2014</a:t>
            </a:r>
          </a:p>
        </p:txBody>
      </p:sp>
    </p:spTree>
    <p:extLst>
      <p:ext uri="{BB962C8B-B14F-4D97-AF65-F5344CB8AC3E}">
        <p14:creationId xmlns:p14="http://schemas.microsoft.com/office/powerpoint/2010/main" val="19273190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56844" indent="-29109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64376" indent="-2328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30127" indent="-2328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95877" indent="-2328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61627" indent="-232875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27377" indent="-232875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93127" indent="-232875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58877" indent="-232875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741E523-B9F8-4047-A78E-C10847A79024}" type="slidenum">
              <a:rPr lang="en-US" altLang="zh-CN"/>
              <a:pPr eaLnBrk="1" hangingPunct="1"/>
              <a:t>14</a:t>
            </a:fld>
            <a:endParaRPr lang="en-US" altLang="zh-CN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11/19/2014</a:t>
            </a:r>
          </a:p>
        </p:txBody>
      </p:sp>
    </p:spTree>
    <p:extLst>
      <p:ext uri="{BB962C8B-B14F-4D97-AF65-F5344CB8AC3E}">
        <p14:creationId xmlns:p14="http://schemas.microsoft.com/office/powerpoint/2010/main" val="4163370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56844" indent="-29109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64376" indent="-2328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30127" indent="-2328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95877" indent="-2328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61627" indent="-232875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27377" indent="-232875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93127" indent="-232875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58877" indent="-232875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D47A53B-098C-411D-95F1-4BE33C51E01B}" type="slidenum">
              <a:rPr lang="en-US" altLang="zh-CN"/>
              <a:pPr eaLnBrk="1" hangingPunct="1"/>
              <a:t>15</a:t>
            </a:fld>
            <a:endParaRPr lang="en-US" altLang="zh-CN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11/19/2014</a:t>
            </a:r>
          </a:p>
        </p:txBody>
      </p:sp>
    </p:spTree>
    <p:extLst>
      <p:ext uri="{BB962C8B-B14F-4D97-AF65-F5344CB8AC3E}">
        <p14:creationId xmlns:p14="http://schemas.microsoft.com/office/powerpoint/2010/main" val="41714680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56844" indent="-29109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64376" indent="-2328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30127" indent="-2328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95877" indent="-2328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61627" indent="-232875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27377" indent="-232875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93127" indent="-232875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58877" indent="-232875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D47A53B-098C-411D-95F1-4BE33C51E01B}" type="slidenum">
              <a:rPr lang="en-US" altLang="zh-CN"/>
              <a:pPr eaLnBrk="1" hangingPunct="1"/>
              <a:t>16</a:t>
            </a:fld>
            <a:endParaRPr lang="en-US" altLang="zh-CN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11/19/2014</a:t>
            </a:r>
          </a:p>
        </p:txBody>
      </p:sp>
    </p:spTree>
    <p:extLst>
      <p:ext uri="{BB962C8B-B14F-4D97-AF65-F5344CB8AC3E}">
        <p14:creationId xmlns:p14="http://schemas.microsoft.com/office/powerpoint/2010/main" val="21380827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56844" indent="-29109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64376" indent="-2328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30127" indent="-2328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95877" indent="-2328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61627" indent="-232875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27377" indent="-232875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93127" indent="-232875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58877" indent="-232875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A094A33-B7E8-4699-AC6C-A66B7DECECB5}" type="slidenum">
              <a:rPr lang="en-US" altLang="zh-CN"/>
              <a:pPr eaLnBrk="1" hangingPunct="1"/>
              <a:t>17</a:t>
            </a:fld>
            <a:endParaRPr lang="en-US" altLang="zh-CN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dirty="0">
                <a:latin typeface="Arial" panose="020B0604020202020204" pitchFamily="34" charset="0"/>
              </a:rPr>
              <a:t>Why Purdue Store doesn’t order enough? It acts in its own self-interest to maximize</a:t>
            </a:r>
            <a:r>
              <a:rPr lang="en-US" altLang="en-US" baseline="0" dirty="0">
                <a:latin typeface="Arial" panose="020B0604020202020204" pitchFamily="34" charset="0"/>
              </a:rPr>
              <a:t> its own profit</a:t>
            </a:r>
          </a:p>
          <a:p>
            <a:pPr eaLnBrk="1" hangingPunct="1"/>
            <a:endParaRPr lang="en-US" altLang="en-US" baseline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baseline="0" dirty="0">
                <a:latin typeface="Arial" panose="020B0604020202020204" pitchFamily="34" charset="0"/>
              </a:rPr>
              <a:t>Incentive conflict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11/19/2014</a:t>
            </a:r>
          </a:p>
        </p:txBody>
      </p:sp>
    </p:spTree>
    <p:extLst>
      <p:ext uri="{BB962C8B-B14F-4D97-AF65-F5344CB8AC3E}">
        <p14:creationId xmlns:p14="http://schemas.microsoft.com/office/powerpoint/2010/main" val="39261695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85075" indent="-30195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07807" indent="-241562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90930" indent="-241562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4052" indent="-241562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57175" indent="-241562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140297" indent="-241562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23421" indent="-241562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06544" indent="-241562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8A89129-A9BE-4BFB-AF17-36503CFED472}" type="slidenum">
              <a:rPr lang="en-US" altLang="zh-CN"/>
              <a:pPr eaLnBrk="1" hangingPunct="1"/>
              <a:t>18</a:t>
            </a:fld>
            <a:endParaRPr lang="en-US" altLang="zh-CN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06363" y="1592263"/>
            <a:ext cx="5727701" cy="4295775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baseline="0" dirty="0">
                <a:latin typeface="Arial" panose="020B0604020202020204" pitchFamily="34" charset="0"/>
              </a:rPr>
              <a:t>Double marginalization; Purdue Store margin is less than the total margin of the supply chain</a:t>
            </a:r>
          </a:p>
          <a:p>
            <a:pPr eaLnBrk="1" hangingPunct="1"/>
            <a:endParaRPr lang="en-US" altLang="en-US" baseline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baseline="0" dirty="0">
                <a:latin typeface="Arial" panose="020B0604020202020204" pitchFamily="34" charset="0"/>
              </a:rPr>
              <a:t>Even if every firm in a supply chain chooses actions to maximize its own expected profit, the total profit earned in the supply chain may be less than the entire supply chain’s maximum profit.</a:t>
            </a:r>
            <a:endParaRPr lang="en-US" altLang="en-US" dirty="0">
              <a:latin typeface="Arial" panose="020B0604020202020204" pitchFamily="34" charset="0"/>
            </a:endParaRPr>
          </a:p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dirty="0">
                <a:latin typeface="Arial" panose="020B0604020202020204" pitchFamily="34" charset="0"/>
              </a:rPr>
              <a:t>Marginal cost pricing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11/19/2014</a:t>
            </a:r>
          </a:p>
        </p:txBody>
      </p:sp>
    </p:spTree>
    <p:extLst>
      <p:ext uri="{BB962C8B-B14F-4D97-AF65-F5344CB8AC3E}">
        <p14:creationId xmlns:p14="http://schemas.microsoft.com/office/powerpoint/2010/main" val="2336670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maximize the</a:t>
            </a:r>
            <a:r>
              <a:rPr lang="en-US" baseline="0" dirty="0"/>
              <a:t> size of a firm’s piece of the “pie” (supply chain’s total profit) &amp; the size of the total “pie” at the same time</a:t>
            </a:r>
          </a:p>
          <a:p>
            <a:endParaRPr lang="en-US" baseline="0" dirty="0"/>
          </a:p>
          <a:p>
            <a:r>
              <a:rPr lang="en-US" baseline="0" dirty="0"/>
              <a:t>Buy-back contract is a tool that first max the size of the pie and then allows the firms to decide how to divide it between them without damaging any part of it.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11/19/2014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E61018C-566D-4DA9-B48F-D4DDEE33155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1974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100% supply chain efficiency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11/19/2014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E61018C-566D-4DA9-B48F-D4DDEE33155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4085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100% supply chain efficiency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11/19/2014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E61018C-566D-4DA9-B48F-D4DDEE33155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4085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85075" indent="-30195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07807" indent="-241562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90930" indent="-241562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4052" indent="-241562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57175" indent="-241562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140297" indent="-241562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23421" indent="-241562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06544" indent="-241562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E8A98AF-B52E-449E-9E1C-9D6559B269CA}" type="slidenum">
              <a:rPr lang="en-US" altLang="zh-CN"/>
              <a:pPr eaLnBrk="1" hangingPunct="1"/>
              <a:t>29</a:t>
            </a:fld>
            <a:endParaRPr lang="en-US" altLang="zh-CN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06363" y="1592263"/>
            <a:ext cx="5727701" cy="4295775"/>
          </a:xfrm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11/19/2014</a:t>
            </a:r>
          </a:p>
        </p:txBody>
      </p:sp>
    </p:spTree>
    <p:extLst>
      <p:ext uri="{BB962C8B-B14F-4D97-AF65-F5344CB8AC3E}">
        <p14:creationId xmlns:p14="http://schemas.microsoft.com/office/powerpoint/2010/main" val="3248076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E1162E1-1065-4054-BEEB-F2D67EAEF1D8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4198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 err="1"/>
              <a:t>Bulwhip</a:t>
            </a:r>
            <a:r>
              <a:rPr lang="en-US" dirty="0"/>
              <a:t> effect deteriorates supply chain performance</a:t>
            </a:r>
            <a:r>
              <a:rPr lang="en-US" baseline="0" dirty="0"/>
              <a:t> by propagating demand variability up the supply chain</a:t>
            </a:r>
          </a:p>
          <a:p>
            <a:pPr eaLnBrk="1" hangingPunct="1"/>
            <a:r>
              <a:rPr lang="en-US" baseline="0" dirty="0"/>
              <a:t>But optimal supply chain performance is also not guaranteed in the absence of the bullwhip effect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8124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56844" indent="-29109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64376" indent="-2328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30127" indent="-2328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95877" indent="-2328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61627" indent="-232875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27377" indent="-232875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93127" indent="-232875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58877" indent="-232875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A05F964-E2E6-4194-827E-B2C3A6238A1D}" type="slidenum">
              <a:rPr lang="en-US" altLang="zh-CN"/>
              <a:pPr eaLnBrk="1" hangingPunct="1"/>
              <a:t>31</a:t>
            </a:fld>
            <a:endParaRPr lang="en-US" altLang="zh-CN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dirty="0">
                <a:latin typeface="Arial" panose="020B0604020202020204" pitchFamily="34" charset="0"/>
              </a:rPr>
              <a:t>Returns policy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11/19/2014</a:t>
            </a:r>
          </a:p>
        </p:txBody>
      </p:sp>
    </p:spTree>
    <p:extLst>
      <p:ext uri="{BB962C8B-B14F-4D97-AF65-F5344CB8AC3E}">
        <p14:creationId xmlns:p14="http://schemas.microsoft.com/office/powerpoint/2010/main" val="1650196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7458" y="788489"/>
            <a:ext cx="7551965" cy="1379764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4440" y="2423478"/>
            <a:ext cx="6934200" cy="2402522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4170C-56F7-4D57-BAC7-95B4C10C8598}" type="datetime1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8E3EF-C80D-49E0-8052-F88DD61DA9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691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7C89B-E1A9-437E-9224-A40A1AAACC10}" type="datetime1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8E3EF-C80D-49E0-8052-F88DD61DA98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6492875"/>
            <a:ext cx="9144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0" y="6492875"/>
            <a:ext cx="9144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6492875"/>
            <a:ext cx="9144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352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93007-DF6E-4BED-9B16-2F2030BB65CF}" type="datetime1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8E3EF-C80D-49E0-8052-F88DD61DA9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868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8C888-BC6F-4DE4-A05F-AC24AEEE7C03}" type="datetime1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8E3EF-C80D-49E0-8052-F88DD61DA98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492875"/>
            <a:ext cx="9144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0" y="6492875"/>
            <a:ext cx="9144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0" y="6492875"/>
            <a:ext cx="9144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485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80AA8-02DB-4955-9642-149BEF9F0BAE}" type="datetime1">
              <a:rPr lang="en-US" smtClean="0"/>
              <a:t>4/11/2025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8E3EF-C80D-49E0-8052-F88DD61DA988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492875"/>
            <a:ext cx="9144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0" y="6492875"/>
            <a:ext cx="9144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 userDrawn="1"/>
        </p:nvCxnSpPr>
        <p:spPr>
          <a:xfrm>
            <a:off x="0" y="6492875"/>
            <a:ext cx="9144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2211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CD1B2-10AA-40E8-BE8C-7535C190464E}" type="datetime1">
              <a:rPr lang="en-US" smtClean="0"/>
              <a:t>4/11/2025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8E3EF-C80D-49E0-8052-F88DD61DA988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6492875"/>
            <a:ext cx="9144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0" y="6492875"/>
            <a:ext cx="9144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0" y="6492875"/>
            <a:ext cx="9144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0138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F5CD4-8CB5-4B3B-9FA2-D60F3C8AFE25}" type="datetime1">
              <a:rPr lang="en-US" smtClean="0"/>
              <a:t>4/11/2025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8E3EF-C80D-49E0-8052-F88DD61DA988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6492875"/>
            <a:ext cx="9144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6492875"/>
            <a:ext cx="9144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 userDrawn="1"/>
        </p:nvCxnSpPr>
        <p:spPr>
          <a:xfrm>
            <a:off x="0" y="6492875"/>
            <a:ext cx="9144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5391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F2A6A-4D5C-4D3F-9EBD-0EE5EB3C259D}" type="datetime1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8E3EF-C80D-49E0-8052-F88DD61DA98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492875"/>
            <a:ext cx="9144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0" y="6492875"/>
            <a:ext cx="9144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0" y="6492875"/>
            <a:ext cx="9144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8995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77A7-20AC-452E-BCD6-99335BD9FBBE}" type="datetime1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8E3EF-C80D-49E0-8052-F88DD61DA98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492875"/>
            <a:ext cx="9144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0" y="6492875"/>
            <a:ext cx="9144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0" y="6492875"/>
            <a:ext cx="9144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7647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A5E9C-C4A4-492D-9F2D-C14036B16464}" type="datetime1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8E3EF-C80D-49E0-8052-F88DD61DA98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6492875"/>
            <a:ext cx="9144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0" y="6492875"/>
            <a:ext cx="9144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6492875"/>
            <a:ext cx="9144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560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1A120-32BC-41D4-A456-55557441BA9A}" type="datetime1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8E3EF-C80D-49E0-8052-F88DD61DA9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0414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45DEA54-DB20-4A2F-A29B-9220E1700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048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45DEA54-DB20-4A2F-A29B-9220E1700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19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45DEA54-DB20-4A2F-A29B-9220E1700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2154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45DEA54-DB20-4A2F-A29B-9220E1700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9239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45DEA54-DB20-4A2F-A29B-9220E1700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0268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45DEA54-DB20-4A2F-A29B-9220E1700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043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0268" y="0"/>
            <a:ext cx="8123464" cy="93072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268" y="1164318"/>
            <a:ext cx="8123464" cy="53285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Blip>
                <a:blip r:embed="rId19"/>
              </a:buBlip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663300"/>
                </a:solidFill>
                <a:effectLst/>
                <a:uLnTx/>
                <a:uFillTx/>
                <a:latin typeface="Book Antiqua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Blip>
                <a:blip r:embed="rId19"/>
              </a:buBlip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663300"/>
                </a:solidFill>
                <a:effectLst/>
                <a:uLnTx/>
                <a:uFillTx/>
                <a:latin typeface="Book Antiqua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Blip>
                <a:blip r:embed="rId19"/>
              </a:buBlip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663300"/>
                </a:solidFill>
                <a:effectLst/>
                <a:uLnTx/>
                <a:uFillTx/>
                <a:latin typeface="Book Antiqua"/>
                <a:ea typeface="+mn-ea"/>
                <a:cs typeface="+mn-cs"/>
              </a:rPr>
              <a:t>Third level</a:t>
            </a:r>
          </a:p>
          <a:p>
            <a:pPr marL="342900" marR="0" lvl="3" indent="-34290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Blip>
                <a:blip r:embed="rId19"/>
              </a:buBlip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663300"/>
                </a:solidFill>
                <a:effectLst/>
                <a:uLnTx/>
                <a:uFillTx/>
                <a:latin typeface="Book Antiqua"/>
                <a:ea typeface="+mn-ea"/>
                <a:cs typeface="+mn-cs"/>
              </a:rPr>
              <a:t>Fourth level</a:t>
            </a:r>
          </a:p>
          <a:p>
            <a:pPr marL="342900" marR="0" lvl="4" indent="-34290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Blip>
                <a:blip r:embed="rId19"/>
              </a:buBlip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663300"/>
                </a:solidFill>
                <a:effectLst/>
                <a:uLnTx/>
                <a:uFillTx/>
                <a:latin typeface="Book Antiqua"/>
                <a:ea typeface="+mn-ea"/>
                <a:cs typeface="+mn-cs"/>
              </a:rPr>
              <a:t>Fifth level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663300"/>
              </a:solidFill>
              <a:effectLst/>
              <a:uLnTx/>
              <a:uFillTx/>
              <a:latin typeface="Book Antiqua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28CDE1-2448-4B2E-BD7C-6A51FA2C1E7E}" type="datetime1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49287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omic Sans MS" panose="030F0702030302020204" pitchFamily="66" charset="0"/>
              </a:defRPr>
            </a:lvl1pPr>
          </a:lstStyle>
          <a:p>
            <a:fld id="{22C8E3EF-C80D-49E0-8052-F88DD61DA9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047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7" r:id="rId1"/>
    <p:sldLayoutId id="2147483958" r:id="rId2"/>
    <p:sldLayoutId id="2147483959" r:id="rId3"/>
    <p:sldLayoutId id="2147483960" r:id="rId4"/>
    <p:sldLayoutId id="2147483961" r:id="rId5"/>
    <p:sldLayoutId id="2147483962" r:id="rId6"/>
    <p:sldLayoutId id="2147483963" r:id="rId7"/>
    <p:sldLayoutId id="2147483964" r:id="rId8"/>
    <p:sldLayoutId id="2147483965" r:id="rId9"/>
    <p:sldLayoutId id="2147483966" r:id="rId10"/>
    <p:sldLayoutId id="2147483967" r:id="rId11"/>
    <p:sldLayoutId id="2147483968" r:id="rId12"/>
    <p:sldLayoutId id="2147483969" r:id="rId13"/>
    <p:sldLayoutId id="2147483970" r:id="rId14"/>
    <p:sldLayoutId id="2147483971" r:id="rId15"/>
    <p:sldLayoutId id="2147483972" r:id="rId16"/>
    <p:sldLayoutId id="2147483973" r:id="rId17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accent6">
              <a:lumMod val="50000"/>
            </a:schemeClr>
          </a:solidFill>
          <a:latin typeface="Comic Sans MS" panose="030F0702030302020204" pitchFamily="66" charset="0"/>
          <a:ea typeface="+mj-ea"/>
          <a:cs typeface="+mj-cs"/>
        </a:defRPr>
      </a:lvl1pPr>
    </p:titleStyle>
    <p:bodyStyle>
      <a:lvl1pPr marL="342900" marR="0" indent="-342900" algn="l" defTabSz="914400" rtl="0" eaLnBrk="1" fontAlgn="base" latinLnBrk="0" hangingPunct="1">
        <a:lnSpc>
          <a:spcPct val="130000"/>
        </a:lnSpc>
        <a:spcBef>
          <a:spcPct val="20000"/>
        </a:spcBef>
        <a:spcAft>
          <a:spcPct val="0"/>
        </a:spcAft>
        <a:buClrTx/>
        <a:buSzPct val="90000"/>
        <a:buFont typeface="Wingdings" panose="05000000000000000000" pitchFamily="2" charset="2"/>
        <a:buBlip>
          <a:blip r:embed="rId19"/>
        </a:buBlip>
        <a:tabLst/>
        <a:defRPr lang="en-US" sz="2000" kern="1200" noProof="0" dirty="0" smtClean="0">
          <a:solidFill>
            <a:schemeClr val="accent2">
              <a:lumMod val="50000"/>
            </a:schemeClr>
          </a:solidFill>
          <a:latin typeface="Book Antiqua" panose="02040602050305030304" pitchFamily="18" charset="0"/>
          <a:ea typeface="+mn-ea"/>
          <a:cs typeface="+mn-cs"/>
        </a:defRPr>
      </a:lvl1pPr>
      <a:lvl2pPr marL="742950" marR="0" indent="-285750" algn="l" defTabSz="914400" rtl="0" eaLnBrk="1" fontAlgn="base" latinLnBrk="0" hangingPunct="1">
        <a:lnSpc>
          <a:spcPct val="130000"/>
        </a:lnSpc>
        <a:spcBef>
          <a:spcPct val="20000"/>
        </a:spcBef>
        <a:spcAft>
          <a:spcPct val="0"/>
        </a:spcAft>
        <a:buClrTx/>
        <a:buSzTx/>
        <a:buFont typeface="Symbol" panose="05050102010706020507" pitchFamily="18" charset="2"/>
        <a:buBlip>
          <a:blip r:embed="rId20"/>
        </a:buBlip>
        <a:tabLst/>
        <a:defRPr lang="en-US" sz="2000" kern="1200" noProof="0" dirty="0" smtClean="0">
          <a:solidFill>
            <a:schemeClr val="accent2">
              <a:lumMod val="50000"/>
            </a:schemeClr>
          </a:solidFill>
          <a:latin typeface="Book Antiqua" panose="02040602050305030304" pitchFamily="18" charset="0"/>
          <a:ea typeface="+mn-ea"/>
          <a:cs typeface="+mn-cs"/>
        </a:defRPr>
      </a:lvl2pPr>
      <a:lvl3pPr marL="1143000" marR="0" indent="-228600" algn="l" defTabSz="914400" rtl="0" eaLnBrk="1" fontAlgn="base" latinLnBrk="0" hangingPunct="1">
        <a:lnSpc>
          <a:spcPct val="130000"/>
        </a:lnSpc>
        <a:spcBef>
          <a:spcPct val="20000"/>
        </a:spcBef>
        <a:spcAft>
          <a:spcPct val="0"/>
        </a:spcAft>
        <a:buClrTx/>
        <a:buSzTx/>
        <a:buFont typeface="Wingdings" panose="05000000000000000000" pitchFamily="2" charset="2"/>
        <a:buBlip>
          <a:blip r:embed="rId21"/>
        </a:buBlip>
        <a:tabLst/>
        <a:defRPr lang="en-US" sz="2000" kern="1200" noProof="0" dirty="0" smtClean="0">
          <a:solidFill>
            <a:schemeClr val="accent2">
              <a:lumMod val="50000"/>
            </a:schemeClr>
          </a:solidFill>
          <a:latin typeface="Book Antiqua" panose="02040602050305030304" pitchFamily="18" charset="0"/>
          <a:ea typeface="+mn-ea"/>
          <a:cs typeface="+mn-cs"/>
        </a:defRPr>
      </a:lvl3pPr>
      <a:lvl4pPr marL="1600200" marR="0" indent="-228600" algn="l" defTabSz="914400" rtl="0" eaLnBrk="1" fontAlgn="base" latinLnBrk="0" hangingPunct="1">
        <a:lnSpc>
          <a:spcPct val="130000"/>
        </a:lnSpc>
        <a:spcBef>
          <a:spcPct val="20000"/>
        </a:spcBef>
        <a:spcAft>
          <a:spcPct val="0"/>
        </a:spcAft>
        <a:buClrTx/>
        <a:buSzTx/>
        <a:buFontTx/>
        <a:buChar char="–"/>
        <a:tabLst/>
        <a:defRPr lang="en-US" sz="2000" kern="1200" noProof="0" dirty="0" smtClean="0">
          <a:solidFill>
            <a:schemeClr val="accent2">
              <a:lumMod val="50000"/>
            </a:schemeClr>
          </a:solidFill>
          <a:latin typeface="Book Antiqua" panose="02040602050305030304" pitchFamily="18" charset="0"/>
          <a:ea typeface="+mn-ea"/>
          <a:cs typeface="+mn-cs"/>
        </a:defRPr>
      </a:lvl4pPr>
      <a:lvl5pPr marL="2057400" marR="0" indent="-228600" algn="l" defTabSz="914400" rtl="0" eaLnBrk="1" fontAlgn="base" latinLnBrk="0" hangingPunct="1">
        <a:lnSpc>
          <a:spcPct val="130000"/>
        </a:lnSpc>
        <a:spcBef>
          <a:spcPct val="20000"/>
        </a:spcBef>
        <a:spcAft>
          <a:spcPct val="0"/>
        </a:spcAft>
        <a:buClrTx/>
        <a:buSzTx/>
        <a:buFontTx/>
        <a:buChar char="»"/>
        <a:tabLst/>
        <a:defRPr lang="en-US" sz="2000" kern="1200" noProof="0" dirty="0">
          <a:solidFill>
            <a:schemeClr val="accent2">
              <a:lumMod val="50000"/>
            </a:schemeClr>
          </a:solidFill>
          <a:latin typeface="Book Antiqua" panose="02040602050305030304" pitchFamily="18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wmf"/><Relationship Id="rId11" Type="http://schemas.openxmlformats.org/officeDocument/2006/relationships/image" Target="../media/image9.gi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8.wmf"/><Relationship Id="rId4" Type="http://schemas.openxmlformats.org/officeDocument/2006/relationships/image" Target="../media/image5.wmf"/><Relationship Id="rId9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96018" y="914855"/>
            <a:ext cx="7551965" cy="1920420"/>
          </a:xfrm>
          <a:ln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pPr algn="ctr"/>
            <a:r>
              <a:rPr lang="en-US" sz="3200" dirty="0"/>
              <a:t>MGMT 361</a:t>
            </a:r>
            <a:br>
              <a:rPr lang="en-US" sz="3200" dirty="0"/>
            </a:br>
            <a:r>
              <a:rPr lang="en-US" sz="3200" dirty="0"/>
              <a:t>Operations Management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143000" y="3531394"/>
            <a:ext cx="6858000" cy="1655762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23. Supply Chain Coordination</a:t>
            </a:r>
          </a:p>
          <a:p>
            <a:endParaRPr lang="en-US" sz="3200" dirty="0"/>
          </a:p>
        </p:txBody>
      </p:sp>
      <p:sp>
        <p:nvSpPr>
          <p:cNvPr id="6" name="Rectangle 5"/>
          <p:cNvSpPr/>
          <p:nvPr/>
        </p:nvSpPr>
        <p:spPr>
          <a:xfrm>
            <a:off x="2286000" y="4536057"/>
            <a:ext cx="4572000" cy="46230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0" fontAlgn="auto" hangingPunct="0">
              <a:lnSpc>
                <a:spcPct val="130000"/>
              </a:lnSpc>
              <a:spcBef>
                <a:spcPct val="20000"/>
              </a:spcBef>
              <a:spcAft>
                <a:spcPts val="0"/>
              </a:spcAft>
              <a:buSzPct val="90000"/>
            </a:pPr>
            <a:r>
              <a:rPr lang="en-US" sz="2000" dirty="0">
                <a:solidFill>
                  <a:srgbClr val="ED7D31">
                    <a:lumMod val="50000"/>
                  </a:srgbClr>
                </a:solidFill>
                <a:latin typeface="Book Antiqua" panose="02040602050305030304" pitchFamily="18" charset="0"/>
              </a:rPr>
              <a:t>Pengyi Shi</a:t>
            </a:r>
          </a:p>
        </p:txBody>
      </p:sp>
    </p:spTree>
    <p:extLst>
      <p:ext uri="{BB962C8B-B14F-4D97-AF65-F5344CB8AC3E}">
        <p14:creationId xmlns:p14="http://schemas.microsoft.com/office/powerpoint/2010/main" val="1668612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Where we are … </a:t>
            </a:r>
          </a:p>
        </p:txBody>
      </p:sp>
      <p:grpSp>
        <p:nvGrpSpPr>
          <p:cNvPr id="5" name="Group 6"/>
          <p:cNvGrpSpPr>
            <a:grpSpLocks/>
          </p:cNvGrpSpPr>
          <p:nvPr/>
        </p:nvGrpSpPr>
        <p:grpSpPr bwMode="auto">
          <a:xfrm>
            <a:off x="1905000" y="1600200"/>
            <a:ext cx="4572000" cy="3895726"/>
            <a:chOff x="1306" y="922"/>
            <a:chExt cx="2880" cy="2454"/>
          </a:xfrm>
        </p:grpSpPr>
        <p:sp>
          <p:nvSpPr>
            <p:cNvPr id="7" name="Rectangle 7"/>
            <p:cNvSpPr>
              <a:spLocks noChangeArrowheads="1"/>
            </p:cNvSpPr>
            <p:nvPr/>
          </p:nvSpPr>
          <p:spPr bwMode="auto">
            <a:xfrm>
              <a:off x="1546" y="922"/>
              <a:ext cx="2592" cy="432"/>
            </a:xfrm>
            <a:prstGeom prst="rect">
              <a:avLst/>
            </a:prstGeom>
            <a:solidFill>
              <a:srgbClr val="70A161"/>
            </a:solidFill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>
                <a:defRPr/>
              </a:pPr>
              <a:endParaRPr lang="en-US" b="1">
                <a:latin typeface="Arial" charset="0"/>
              </a:endParaRPr>
            </a:p>
          </p:txBody>
        </p:sp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1546" y="1423"/>
              <a:ext cx="2592" cy="432"/>
            </a:xfrm>
            <a:prstGeom prst="rect">
              <a:avLst/>
            </a:prstGeom>
            <a:solidFill>
              <a:srgbClr val="70A161"/>
            </a:solidFill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>
                <a:defRPr/>
              </a:pPr>
              <a:endParaRPr lang="en-US" b="1">
                <a:latin typeface="Arial" charset="0"/>
              </a:endParaRPr>
            </a:p>
          </p:txBody>
        </p:sp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1546" y="2427"/>
              <a:ext cx="2592" cy="432"/>
            </a:xfrm>
            <a:prstGeom prst="rect">
              <a:avLst/>
            </a:prstGeom>
            <a:solidFill>
              <a:srgbClr val="70A161"/>
            </a:solidFill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>
                <a:defRPr/>
              </a:pPr>
              <a:endParaRPr lang="en-US" b="1">
                <a:latin typeface="Arial" charset="0"/>
              </a:endParaRPr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1546" y="1910"/>
              <a:ext cx="2592" cy="432"/>
            </a:xfrm>
            <a:prstGeom prst="rect">
              <a:avLst/>
            </a:prstGeom>
            <a:solidFill>
              <a:srgbClr val="70A161"/>
            </a:solidFill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>
                <a:defRPr/>
              </a:pPr>
              <a:endParaRPr lang="en-US" b="1">
                <a:latin typeface="Arial" charset="0"/>
              </a:endParaRPr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1546" y="2944"/>
              <a:ext cx="2592" cy="432"/>
            </a:xfrm>
            <a:prstGeom prst="rect">
              <a:avLst/>
            </a:prstGeom>
            <a:solidFill>
              <a:srgbClr val="70A161"/>
            </a:solidFill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1306" y="1042"/>
              <a:ext cx="2880" cy="2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lnSpc>
                  <a:spcPct val="80000"/>
                </a:lnSpc>
                <a:spcBef>
                  <a:spcPct val="50000"/>
                </a:spcBef>
                <a:defRPr/>
              </a:pPr>
              <a:r>
                <a:rPr lang="en-US" sz="20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charset="0"/>
                </a:rPr>
                <a:t>Process Analysis</a:t>
              </a:r>
            </a:p>
            <a:p>
              <a:pPr algn="ctr">
                <a:lnSpc>
                  <a:spcPct val="80000"/>
                </a:lnSpc>
                <a:spcBef>
                  <a:spcPct val="50000"/>
                </a:spcBef>
                <a:defRPr/>
              </a:pPr>
              <a:endParaRPr 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endParaRPr>
            </a:p>
            <a:p>
              <a:pPr algn="ctr">
                <a:lnSpc>
                  <a:spcPct val="80000"/>
                </a:lnSpc>
                <a:spcBef>
                  <a:spcPct val="50000"/>
                </a:spcBef>
                <a:defRPr/>
              </a:pPr>
              <a:r>
                <a:rPr lang="en-US" sz="20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charset="0"/>
                </a:rPr>
                <a:t>Process Variability</a:t>
              </a:r>
            </a:p>
            <a:p>
              <a:pPr algn="ctr">
                <a:lnSpc>
                  <a:spcPct val="80000"/>
                </a:lnSpc>
                <a:spcBef>
                  <a:spcPct val="50000"/>
                </a:spcBef>
                <a:defRPr/>
              </a:pPr>
              <a:endParaRPr lang="en-US" sz="2000" b="1" dirty="0">
                <a:latin typeface="Arial" charset="0"/>
              </a:endParaRPr>
            </a:p>
            <a:p>
              <a:pPr algn="ctr">
                <a:lnSpc>
                  <a:spcPct val="80000"/>
                </a:lnSpc>
                <a:spcBef>
                  <a:spcPct val="50000"/>
                </a:spcBef>
                <a:defRPr/>
              </a:pPr>
              <a:r>
                <a:rPr lang="en-US" sz="20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charset="0"/>
                </a:rPr>
                <a:t>Quality Management</a:t>
              </a:r>
            </a:p>
            <a:p>
              <a:pPr algn="ctr">
                <a:lnSpc>
                  <a:spcPct val="80000"/>
                </a:lnSpc>
                <a:spcBef>
                  <a:spcPct val="50000"/>
                </a:spcBef>
                <a:defRPr/>
              </a:pPr>
              <a:endParaRPr lang="en-US" sz="2000" b="1" dirty="0">
                <a:latin typeface="Arial" charset="0"/>
              </a:endParaRPr>
            </a:p>
            <a:p>
              <a:pPr algn="ctr">
                <a:lnSpc>
                  <a:spcPct val="80000"/>
                </a:lnSpc>
                <a:spcBef>
                  <a:spcPct val="50000"/>
                </a:spcBef>
                <a:defRPr/>
              </a:pPr>
              <a:r>
                <a:rPr lang="en-US" sz="20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charset="0"/>
                </a:rPr>
                <a:t>Inventory Management</a:t>
              </a:r>
            </a:p>
            <a:p>
              <a:pPr algn="ctr">
                <a:lnSpc>
                  <a:spcPct val="80000"/>
                </a:lnSpc>
                <a:spcBef>
                  <a:spcPct val="50000"/>
                </a:spcBef>
                <a:defRPr/>
              </a:pPr>
              <a:endParaRPr 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endParaRPr>
            </a:p>
            <a:p>
              <a:pPr algn="ctr">
                <a:lnSpc>
                  <a:spcPct val="80000"/>
                </a:lnSpc>
                <a:spcBef>
                  <a:spcPct val="50000"/>
                </a:spcBef>
                <a:defRPr/>
              </a:pPr>
              <a:r>
                <a:rPr lang="en-US" sz="20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charset="0"/>
                </a:rPr>
                <a:t>Supply Chain Management</a:t>
              </a:r>
            </a:p>
          </p:txBody>
        </p:sp>
      </p:grp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786" y="1691107"/>
            <a:ext cx="603614" cy="559573"/>
          </a:xfrm>
          <a:prstGeom prst="rect">
            <a:avLst/>
          </a:prstGeom>
        </p:spPr>
      </p:pic>
      <p:pic>
        <p:nvPicPr>
          <p:cNvPr id="14" name="Content Placeholder 1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96308" y="2375446"/>
            <a:ext cx="561092" cy="520154"/>
          </a:xfrm>
          <a:prstGeom prst="rect">
            <a:avLst/>
          </a:prstGeom>
        </p:spPr>
      </p:pic>
      <p:pic>
        <p:nvPicPr>
          <p:cNvPr id="15" name="Content Placeholder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0562" y="3216547"/>
            <a:ext cx="561092" cy="520154"/>
          </a:xfrm>
          <a:prstGeom prst="rect">
            <a:avLst/>
          </a:prstGeom>
        </p:spPr>
      </p:pic>
      <p:pic>
        <p:nvPicPr>
          <p:cNvPr id="3" name="Content Placeholder 13">
            <a:extLst>
              <a:ext uri="{FF2B5EF4-FFF2-40B4-BE49-F238E27FC236}">
                <a16:creationId xmlns:a16="http://schemas.microsoft.com/office/drawing/2014/main" id="{607DC519-49EC-81DE-F5FD-8A73F85ED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6562" y="4061370"/>
            <a:ext cx="561092" cy="520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746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Supply Chain Management</a:t>
            </a:r>
          </a:p>
        </p:txBody>
      </p:sp>
      <p:sp>
        <p:nvSpPr>
          <p:cNvPr id="6147" name="Vertical Text Placeholder 2"/>
          <p:cNvSpPr>
            <a:spLocks noGrp="1"/>
          </p:cNvSpPr>
          <p:nvPr>
            <p:ph idx="1"/>
          </p:nvPr>
        </p:nvSpPr>
        <p:spPr/>
        <p:txBody>
          <a:bodyPr vert="horz">
            <a:normAutofit/>
          </a:bodyPr>
          <a:lstStyle/>
          <a:p>
            <a:r>
              <a:rPr lang="en-US" sz="2000" dirty="0"/>
              <a:t>Multiple activities/organizations involved in producing and delivering a good or service</a:t>
            </a:r>
          </a:p>
          <a:p>
            <a:r>
              <a:rPr lang="en-US" sz="2000" dirty="0"/>
              <a:t>The entire SC can be owned by one firm: </a:t>
            </a:r>
            <a:r>
              <a:rPr lang="en-US" sz="2000" b="1" i="1" dirty="0">
                <a:solidFill>
                  <a:srgbClr val="FF0000"/>
                </a:solidFill>
              </a:rPr>
              <a:t>centralized</a:t>
            </a:r>
          </a:p>
          <a:p>
            <a:r>
              <a:rPr lang="en-US" sz="2000" dirty="0"/>
              <a:t>The SC can also have multiple firms, and each firm makes decisions to maximize its own profit: </a:t>
            </a:r>
            <a:r>
              <a:rPr lang="en-US" sz="2000" b="1" i="1" dirty="0">
                <a:solidFill>
                  <a:srgbClr val="FF0000"/>
                </a:solidFill>
              </a:rPr>
              <a:t>decentralized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E06233DC-6B80-4F86-99F1-856832B7A88D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933060" y="3912662"/>
            <a:ext cx="1775732" cy="45878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Book Antiqua" panose="02040602050305030304" pitchFamily="18" charset="0"/>
              </a:rPr>
              <a:t>Manufacturer</a:t>
            </a:r>
          </a:p>
        </p:txBody>
      </p:sp>
      <p:graphicFrame>
        <p:nvGraphicFramePr>
          <p:cNvPr id="6149" name="Object 7"/>
          <p:cNvGraphicFramePr>
            <a:graphicFrameLocks noChangeAspect="1"/>
          </p:cNvGraphicFramePr>
          <p:nvPr/>
        </p:nvGraphicFramePr>
        <p:xfrm>
          <a:off x="4971284" y="4573062"/>
          <a:ext cx="1782458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5910263" imgH="1873250" progId="">
                  <p:embed/>
                </p:oleObj>
              </mc:Choice>
              <mc:Fallback>
                <p:oleObj name="Clip" r:id="rId3" imgW="5910263" imgH="187325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1284" y="4573062"/>
                        <a:ext cx="1782458" cy="588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0" name="Text Box 10"/>
          <p:cNvSpPr txBox="1">
            <a:spLocks noChangeArrowheads="1"/>
          </p:cNvSpPr>
          <p:nvPr/>
        </p:nvSpPr>
        <p:spPr bwMode="auto">
          <a:xfrm>
            <a:off x="3016036" y="3882499"/>
            <a:ext cx="1573944" cy="45878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Book Antiqua" panose="02040602050305030304" pitchFamily="18" charset="0"/>
              </a:rPr>
              <a:t>Distributor</a:t>
            </a:r>
          </a:p>
        </p:txBody>
      </p:sp>
      <p:sp>
        <p:nvSpPr>
          <p:cNvPr id="6151" name="Text Box 11"/>
          <p:cNvSpPr txBox="1">
            <a:spLocks noChangeArrowheads="1"/>
          </p:cNvSpPr>
          <p:nvPr/>
        </p:nvSpPr>
        <p:spPr bwMode="auto">
          <a:xfrm>
            <a:off x="5106445" y="3882499"/>
            <a:ext cx="1693336" cy="45878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2000">
                <a:solidFill>
                  <a:schemeClr val="accent2">
                    <a:lumMod val="50000"/>
                  </a:schemeClr>
                </a:solidFill>
                <a:latin typeface="Book Antiqua" panose="02040602050305030304" pitchFamily="18" charset="0"/>
              </a:rPr>
              <a:t>Wholesaler</a:t>
            </a:r>
          </a:p>
        </p:txBody>
      </p:sp>
      <p:sp>
        <p:nvSpPr>
          <p:cNvPr id="6152" name="Text Box 12"/>
          <p:cNvSpPr txBox="1">
            <a:spLocks noChangeArrowheads="1"/>
          </p:cNvSpPr>
          <p:nvPr/>
        </p:nvSpPr>
        <p:spPr bwMode="auto">
          <a:xfrm>
            <a:off x="7210399" y="3882499"/>
            <a:ext cx="1570581" cy="45878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2000">
                <a:solidFill>
                  <a:schemeClr val="accent2">
                    <a:lumMod val="50000"/>
                  </a:schemeClr>
                </a:solidFill>
                <a:latin typeface="Book Antiqua" panose="02040602050305030304" pitchFamily="18" charset="0"/>
              </a:rPr>
              <a:t>Retailer</a:t>
            </a:r>
          </a:p>
        </p:txBody>
      </p:sp>
      <p:graphicFrame>
        <p:nvGraphicFramePr>
          <p:cNvPr id="6153" name="Object 38"/>
          <p:cNvGraphicFramePr>
            <a:graphicFrameLocks noChangeAspect="1"/>
          </p:cNvGraphicFramePr>
          <p:nvPr/>
        </p:nvGraphicFramePr>
        <p:xfrm>
          <a:off x="3222701" y="4450824"/>
          <a:ext cx="1086291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5" imgW="5905500" imgH="3697288" progId="">
                  <p:embed/>
                </p:oleObj>
              </mc:Choice>
              <mc:Fallback>
                <p:oleObj name="Clip" r:id="rId5" imgW="5905500" imgH="3697288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2701" y="4450824"/>
                        <a:ext cx="1086291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4" name="Object 39"/>
          <p:cNvGraphicFramePr>
            <a:graphicFrameLocks noChangeAspect="1"/>
          </p:cNvGraphicFramePr>
          <p:nvPr/>
        </p:nvGraphicFramePr>
        <p:xfrm>
          <a:off x="1204083" y="4360337"/>
          <a:ext cx="1017347" cy="725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7" imgW="5570538" imgH="3436938" progId="">
                  <p:embed/>
                </p:oleObj>
              </mc:Choice>
              <mc:Fallback>
                <p:oleObj name="Clip" r:id="rId7" imgW="5570538" imgH="3436938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4083" y="4360337"/>
                        <a:ext cx="1017347" cy="725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5" name="Object 40"/>
          <p:cNvGraphicFramePr>
            <a:graphicFrameLocks noChangeAspect="1"/>
          </p:cNvGraphicFramePr>
          <p:nvPr/>
        </p:nvGraphicFramePr>
        <p:xfrm>
          <a:off x="7211561" y="4642912"/>
          <a:ext cx="1237631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9" imgW="7056438" imgH="2841625" progId="">
                  <p:embed/>
                </p:oleObj>
              </mc:Choice>
              <mc:Fallback>
                <p:oleObj name="Clip" r:id="rId9" imgW="7056438" imgH="2841625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1561" y="4642912"/>
                        <a:ext cx="1237631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156" name="Straight Arrow Connector 12"/>
          <p:cNvCxnSpPr>
            <a:cxnSpLocks noChangeShapeType="1"/>
          </p:cNvCxnSpPr>
          <p:nvPr/>
        </p:nvCxnSpPr>
        <p:spPr bwMode="auto">
          <a:xfrm>
            <a:off x="2448586" y="4720699"/>
            <a:ext cx="565006" cy="0"/>
          </a:xfrm>
          <a:prstGeom prst="straightConnector1">
            <a:avLst/>
          </a:prstGeom>
          <a:noFill/>
          <a:ln w="22225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57" name="Straight Arrow Connector 14"/>
          <p:cNvCxnSpPr>
            <a:cxnSpLocks noChangeShapeType="1"/>
          </p:cNvCxnSpPr>
          <p:nvPr/>
        </p:nvCxnSpPr>
        <p:spPr bwMode="auto">
          <a:xfrm>
            <a:off x="4353586" y="4727049"/>
            <a:ext cx="565006" cy="0"/>
          </a:xfrm>
          <a:prstGeom prst="straightConnector1">
            <a:avLst/>
          </a:prstGeom>
          <a:noFill/>
          <a:ln w="22225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58" name="Straight Arrow Connector 15"/>
          <p:cNvCxnSpPr>
            <a:cxnSpLocks noChangeShapeType="1"/>
          </p:cNvCxnSpPr>
          <p:nvPr/>
        </p:nvCxnSpPr>
        <p:spPr bwMode="auto">
          <a:xfrm>
            <a:off x="6733249" y="4727049"/>
            <a:ext cx="565006" cy="0"/>
          </a:xfrm>
          <a:prstGeom prst="straightConnector1">
            <a:avLst/>
          </a:prstGeom>
          <a:noFill/>
          <a:ln w="22225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Text Box 13"/>
          <p:cNvSpPr txBox="1">
            <a:spLocks noChangeArrowheads="1"/>
          </p:cNvSpPr>
          <p:nvPr/>
        </p:nvSpPr>
        <p:spPr bwMode="auto">
          <a:xfrm>
            <a:off x="7079320" y="5540642"/>
            <a:ext cx="160589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 Antiqua" panose="02040602050305030304" pitchFamily="18" charset="0"/>
              </a:rPr>
              <a:t>   Consumer</a:t>
            </a:r>
          </a:p>
        </p:txBody>
      </p:sp>
      <p:pic>
        <p:nvPicPr>
          <p:cNvPr id="17" name="Picture 1" descr="good old boy drinking beer animated gif"/>
          <p:cNvPicPr>
            <a:picLocks noChangeAspect="1" noChangeArrowheads="1" noCrop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7513147" y="5907355"/>
            <a:ext cx="93604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8" name="Straight Arrow Connector 15"/>
          <p:cNvCxnSpPr>
            <a:cxnSpLocks noChangeShapeType="1"/>
          </p:cNvCxnSpPr>
          <p:nvPr/>
        </p:nvCxnSpPr>
        <p:spPr bwMode="auto">
          <a:xfrm flipV="1">
            <a:off x="7874000" y="5202505"/>
            <a:ext cx="0" cy="266700"/>
          </a:xfrm>
          <a:prstGeom prst="straightConnector1">
            <a:avLst/>
          </a:prstGeom>
          <a:noFill/>
          <a:ln w="22225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605212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Incentive conflicts in decentralized supply chains</a:t>
            </a:r>
          </a:p>
          <a:p>
            <a:endParaRPr lang="en-US" dirty="0"/>
          </a:p>
          <a:p>
            <a:r>
              <a:rPr lang="en-US" dirty="0"/>
              <a:t>How to coordinate a decentralized supply chain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8E3EF-C80D-49E0-8052-F88DD61DA98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219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altLang="en-US" dirty="0"/>
              <a:t>Incentive Conflicts </a:t>
            </a:r>
          </a:p>
        </p:txBody>
      </p:sp>
      <p:sp>
        <p:nvSpPr>
          <p:cNvPr id="40550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eaLnBrk="1" hangingPunct="1">
              <a:lnSpc>
                <a:spcPts val="3400"/>
              </a:lnSpc>
              <a:buNone/>
            </a:pPr>
            <a:endParaRPr lang="en-US" altLang="en-US" dirty="0"/>
          </a:p>
          <a:p>
            <a:pPr eaLnBrk="1" hangingPunct="1">
              <a:lnSpc>
                <a:spcPts val="3400"/>
              </a:lnSpc>
            </a:pPr>
            <a:r>
              <a:rPr lang="en-US" altLang="en-US" dirty="0"/>
              <a:t>Suboptimal performance due to </a:t>
            </a:r>
            <a:r>
              <a:rPr lang="en-US" altLang="en-US" dirty="0">
                <a:solidFill>
                  <a:srgbClr val="FF0000"/>
                </a:solidFill>
              </a:rPr>
              <a:t>double marginalization -</a:t>
            </a:r>
            <a:r>
              <a:rPr lang="en-US" altLang="en-US" i="1" dirty="0">
                <a:solidFill>
                  <a:srgbClr val="FF0000"/>
                </a:solidFill>
              </a:rPr>
              <a:t> </a:t>
            </a:r>
            <a:r>
              <a:rPr lang="en-US" altLang="en-US" dirty="0"/>
              <a:t>each firm makes decisions based on its own margin</a:t>
            </a:r>
          </a:p>
          <a:p>
            <a:pPr lvl="1">
              <a:lnSpc>
                <a:spcPts val="3400"/>
              </a:lnSpc>
            </a:pPr>
            <a:r>
              <a:rPr lang="en-US" altLang="en-US" dirty="0"/>
              <a:t>Supply chain performance can be significantly improved…</a:t>
            </a:r>
          </a:p>
          <a:p>
            <a:pPr lvl="1">
              <a:lnSpc>
                <a:spcPts val="3400"/>
              </a:lnSpc>
            </a:pPr>
            <a:r>
              <a:rPr lang="en-US" altLang="en-US" dirty="0"/>
              <a:t>All parties (manufacturer, retailer, consumer) can be much better off if decision making is centralized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8E3EF-C80D-49E0-8052-F88DD61DA98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302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Example: Purdue Apparel Supply Chain</a:t>
            </a:r>
          </a:p>
        </p:txBody>
      </p:sp>
      <p:sp>
        <p:nvSpPr>
          <p:cNvPr id="4403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80000"/>
              </a:lnSpc>
            </a:pPr>
            <a:r>
              <a:rPr lang="en-US" altLang="en-US" dirty="0"/>
              <a:t>Two parties:</a:t>
            </a:r>
          </a:p>
          <a:p>
            <a:pPr lvl="1">
              <a:lnSpc>
                <a:spcPct val="180000"/>
              </a:lnSpc>
            </a:pPr>
            <a:r>
              <a:rPr lang="en-US" altLang="en-US" dirty="0"/>
              <a:t>College Apparel (CA) produces authentic Purdue apparels</a:t>
            </a:r>
          </a:p>
          <a:p>
            <a:pPr lvl="1">
              <a:lnSpc>
                <a:spcPct val="180000"/>
              </a:lnSpc>
            </a:pPr>
            <a:r>
              <a:rPr lang="en-US" altLang="en-US" dirty="0"/>
              <a:t>Purdue Store (PS) retails them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8E3EF-C80D-49E0-8052-F88DD61DA988}" type="slidenum">
              <a:rPr lang="en-US" smtClean="0"/>
              <a:t>6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1712002" y="3268735"/>
            <a:ext cx="5436325" cy="676656"/>
            <a:chOff x="613737" y="4882896"/>
            <a:chExt cx="5824394" cy="676656"/>
          </a:xfrm>
        </p:grpSpPr>
        <p:sp>
          <p:nvSpPr>
            <p:cNvPr id="2" name="Rounded Rectangle 1"/>
            <p:cNvSpPr/>
            <p:nvPr/>
          </p:nvSpPr>
          <p:spPr>
            <a:xfrm>
              <a:off x="613737" y="4882896"/>
              <a:ext cx="2321487" cy="67665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dirty="0">
                  <a:latin typeface="Book Antiqua" panose="02040602050305030304" pitchFamily="18" charset="0"/>
                </a:rPr>
                <a:t>College Apparel</a:t>
              </a:r>
            </a:p>
            <a:p>
              <a:pPr algn="ctr"/>
              <a:r>
                <a:rPr lang="en-US" dirty="0">
                  <a:latin typeface="Book Antiqua" panose="02040602050305030304" pitchFamily="18" charset="0"/>
                </a:rPr>
                <a:t>(supplier)</a:t>
              </a:r>
            </a:p>
          </p:txBody>
        </p:sp>
        <p:cxnSp>
          <p:nvCxnSpPr>
            <p:cNvPr id="4" name="Straight Arrow Connector 3"/>
            <p:cNvCxnSpPr>
              <a:stCxn id="2" idx="3"/>
              <a:endCxn id="7" idx="1"/>
            </p:cNvCxnSpPr>
            <p:nvPr/>
          </p:nvCxnSpPr>
          <p:spPr>
            <a:xfrm>
              <a:off x="2935224" y="5221224"/>
              <a:ext cx="131368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ounded Rectangle 6"/>
            <p:cNvSpPr/>
            <p:nvPr/>
          </p:nvSpPr>
          <p:spPr>
            <a:xfrm>
              <a:off x="4248912" y="4882896"/>
              <a:ext cx="2189219" cy="67665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Book Antiqua" panose="02040602050305030304" pitchFamily="18" charset="0"/>
                </a:rPr>
                <a:t>Purdue Store</a:t>
              </a:r>
            </a:p>
            <a:p>
              <a:pPr algn="ctr"/>
              <a:r>
                <a:rPr lang="en-US" dirty="0">
                  <a:latin typeface="Book Antiqua" panose="02040602050305030304" pitchFamily="18" charset="0"/>
                </a:rPr>
                <a:t>(retailer)</a:t>
              </a:r>
            </a:p>
          </p:txBody>
        </p:sp>
      </p:grpSp>
      <p:pic>
        <p:nvPicPr>
          <p:cNvPr id="2050" name="Picture 2" descr="https://ag.purdue.edu/agry/intranet/logo/Purdue-Boilermakers.gif?Mobile=1&amp;Source=%2Fagry%2Fintranet%2F_layouts%2Fmobile%2Fview.aspx%3FList%3D19bbe5ea-fddc-4294-9798-d3e60aa39935%26View%3Dc82cce08-9116-42fd-a5bf-0f5554ac2df7%26CurrentPage%3D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5517" y="178449"/>
            <a:ext cx="1008215" cy="941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3499" y="4178980"/>
            <a:ext cx="3845475" cy="2094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928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Purdue Apparel Supply Chain – Centralized</a:t>
            </a:r>
          </a:p>
        </p:txBody>
      </p:sp>
      <p:sp>
        <p:nvSpPr>
          <p:cNvPr id="4403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80000"/>
              </a:lnSpc>
            </a:pPr>
            <a:r>
              <a:rPr lang="en-US" altLang="en-US" dirty="0"/>
              <a:t>College Apparel (CA) produces one jersey for C = $</a:t>
            </a:r>
            <a:r>
              <a:rPr lang="en-US" altLang="en-US" dirty="0">
                <a:solidFill>
                  <a:srgbClr val="FF00FF"/>
                </a:solidFill>
              </a:rPr>
              <a:t>50</a:t>
            </a:r>
            <a:r>
              <a:rPr lang="en-US" altLang="en-US" dirty="0"/>
              <a:t>. </a:t>
            </a:r>
          </a:p>
          <a:p>
            <a:pPr eaLnBrk="1" hangingPunct="1">
              <a:lnSpc>
                <a:spcPct val="180000"/>
              </a:lnSpc>
            </a:pPr>
            <a:r>
              <a:rPr lang="en-US" altLang="en-US" dirty="0"/>
              <a:t>Purdue Store (PS) retails them for R = $125 and “disposes” them for V = $25 (e.g., post-season sale).</a:t>
            </a:r>
          </a:p>
          <a:p>
            <a:pPr eaLnBrk="1" hangingPunct="1">
              <a:lnSpc>
                <a:spcPct val="180000"/>
              </a:lnSpc>
            </a:pPr>
            <a:r>
              <a:rPr lang="en-US" altLang="en-US" dirty="0"/>
              <a:t>Supply chain’s best decision: suppose CA and PS are owned by one company</a:t>
            </a:r>
          </a:p>
          <a:p>
            <a:pPr eaLnBrk="1" hangingPunct="1">
              <a:lnSpc>
                <a:spcPct val="180000"/>
              </a:lnSpc>
            </a:pPr>
            <a:r>
              <a:rPr lang="en-US" altLang="en-US" dirty="0"/>
              <a:t>How much should the SC order: Newsvendor problem</a:t>
            </a:r>
          </a:p>
          <a:p>
            <a:pPr lvl="1">
              <a:lnSpc>
                <a:spcPct val="120000"/>
              </a:lnSpc>
            </a:pPr>
            <a:r>
              <a:rPr lang="en-US" altLang="en-US" dirty="0"/>
              <a:t>Excess cost (“leftover cost”): </a:t>
            </a:r>
          </a:p>
          <a:p>
            <a:pPr lvl="1">
              <a:lnSpc>
                <a:spcPct val="120000"/>
              </a:lnSpc>
            </a:pPr>
            <a:r>
              <a:rPr lang="en-US" altLang="en-US" dirty="0"/>
              <a:t>Shortage cost (“profit”): </a:t>
            </a:r>
          </a:p>
          <a:p>
            <a:pPr lvl="1">
              <a:lnSpc>
                <a:spcPct val="120000"/>
              </a:lnSpc>
            </a:pPr>
            <a:r>
              <a:rPr lang="en-US" altLang="en-US" dirty="0"/>
              <a:t>Critical ratio:</a:t>
            </a:r>
            <a:endParaRPr lang="en-US" altLang="en-US" b="1" dirty="0">
              <a:solidFill>
                <a:srgbClr val="FF000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8E3EF-C80D-49E0-8052-F88DD61DA988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2" descr="https://ag.purdue.edu/agry/intranet/logo/Purdue-Boilermakers.gif?Mobile=1&amp;Source=%2Fagry%2Fintranet%2F_layouts%2Fmobile%2Fview.aspx%3FList%3D19bbe5ea-fddc-4294-9798-d3e60aa39935%26View%3Dc82cce08-9116-42fd-a5bf-0f5554ac2df7%26CurrentPage%3D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5517" y="178449"/>
            <a:ext cx="1008215" cy="941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3477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Purdue Apparel Supply Chain – Centralized</a:t>
            </a:r>
            <a:endParaRPr lang="en-US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Critical ratio = 75%, and the supply chain will produce Q=300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8E3EF-C80D-49E0-8052-F88DD61DA988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411652" name="Group 4"/>
          <p:cNvGraphicFramePr>
            <a:graphicFrameLocks noGrp="1"/>
          </p:cNvGraphicFramePr>
          <p:nvPr/>
        </p:nvGraphicFramePr>
        <p:xfrm>
          <a:off x="816295" y="1914572"/>
          <a:ext cx="4373199" cy="2163224"/>
        </p:xfrm>
        <a:graphic>
          <a:graphicData uri="http://schemas.openxmlformats.org/drawingml/2006/table">
            <a:tbl>
              <a:tblPr/>
              <a:tblGrid>
                <a:gridCol w="988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52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0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90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91896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Demand</a:t>
                      </a: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 (D)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Pr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(D)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Sales</a:t>
                      </a: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=Min(D,300)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Sales *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Pr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(D)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261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100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25%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100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25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261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200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25%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200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50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261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300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25%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300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75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261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400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25%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300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75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11684" name="Rectangle 36"/>
          <p:cNvSpPr>
            <a:spLocks noChangeArrowheads="1"/>
          </p:cNvSpPr>
          <p:nvPr/>
        </p:nvSpPr>
        <p:spPr bwMode="auto">
          <a:xfrm>
            <a:off x="5335362" y="2640485"/>
            <a:ext cx="3298370" cy="1421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10000"/>
              </a:lnSpc>
              <a:spcBef>
                <a:spcPct val="20000"/>
              </a:spcBef>
              <a:buFont typeface="Symbol" panose="05050102010706020507" pitchFamily="18" charset="2"/>
              <a:buNone/>
            </a:pPr>
            <a:r>
              <a:rPr lang="en-US" altLang="en-US" dirty="0">
                <a:solidFill>
                  <a:srgbClr val="663300"/>
                </a:solidFill>
                <a:latin typeface="Book Antiqua" panose="02040602050305030304" pitchFamily="18" charset="0"/>
              </a:rPr>
              <a:t>Expected demand = 250</a:t>
            </a:r>
          </a:p>
          <a:p>
            <a:pPr algn="l" eaLnBrk="1" hangingPunct="1">
              <a:lnSpc>
                <a:spcPct val="110000"/>
              </a:lnSpc>
              <a:spcBef>
                <a:spcPct val="20000"/>
              </a:spcBef>
              <a:buFont typeface="Symbol" panose="05050102010706020507" pitchFamily="18" charset="2"/>
              <a:buNone/>
            </a:pPr>
            <a:r>
              <a:rPr lang="en-US" altLang="en-US" dirty="0">
                <a:solidFill>
                  <a:srgbClr val="663300"/>
                </a:solidFill>
                <a:latin typeface="Book Antiqua" panose="02040602050305030304" pitchFamily="18" charset="0"/>
              </a:rPr>
              <a:t>Expected sales = 225</a:t>
            </a:r>
          </a:p>
          <a:p>
            <a:pPr algn="l" eaLnBrk="1" hangingPunct="1">
              <a:lnSpc>
                <a:spcPct val="110000"/>
              </a:lnSpc>
              <a:spcBef>
                <a:spcPct val="20000"/>
              </a:spcBef>
              <a:buFont typeface="Symbol" panose="05050102010706020507" pitchFamily="18" charset="2"/>
              <a:buNone/>
            </a:pPr>
            <a:r>
              <a:rPr lang="en-US" altLang="en-US" dirty="0">
                <a:solidFill>
                  <a:srgbClr val="663300"/>
                </a:solidFill>
                <a:latin typeface="Book Antiqua" panose="02040602050305030304" pitchFamily="18" charset="0"/>
              </a:rPr>
              <a:t>Expected leftover inventory = 300 – 225 = 75 </a:t>
            </a:r>
          </a:p>
        </p:txBody>
      </p:sp>
      <p:sp>
        <p:nvSpPr>
          <p:cNvPr id="411685" name="Rectangle 37"/>
          <p:cNvSpPr>
            <a:spLocks noChangeArrowheads="1"/>
          </p:cNvSpPr>
          <p:nvPr/>
        </p:nvSpPr>
        <p:spPr bwMode="auto">
          <a:xfrm>
            <a:off x="1005839" y="4662140"/>
            <a:ext cx="80010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lang="en-US" altLang="en-US" sz="2000" dirty="0">
                <a:solidFill>
                  <a:srgbClr val="663300"/>
                </a:solidFill>
                <a:latin typeface="Book Antiqua" panose="02040602050305030304" pitchFamily="18" charset="0"/>
              </a:rPr>
              <a:t>Supply chain’s profit =</a:t>
            </a:r>
            <a:endParaRPr lang="en-US" altLang="en-US" sz="2000" b="1" dirty="0">
              <a:solidFill>
                <a:srgbClr val="663300"/>
              </a:solidFill>
              <a:latin typeface="Book Antiqua" panose="02040602050305030304" pitchFamily="18" charset="0"/>
            </a:endParaRPr>
          </a:p>
        </p:txBody>
      </p:sp>
      <p:pic>
        <p:nvPicPr>
          <p:cNvPr id="8" name="Picture 2" descr="https://ag.purdue.edu/agry/intranet/logo/Purdue-Boilermakers.gif?Mobile=1&amp;Source=%2Fagry%2Fintranet%2F_layouts%2Fmobile%2Fview.aspx%3FList%3D19bbe5ea-fddc-4294-9798-d3e60aa39935%26View%3Dc82cce08-9116-42fd-a5bf-0f5554ac2df7%26CurrentPage%3D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5517" y="178449"/>
            <a:ext cx="1008215" cy="941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7542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Purdue Apparel Supply Chain</a:t>
            </a:r>
            <a:r>
              <a:rPr lang="en-US" dirty="0"/>
              <a:t> – Decentralized</a:t>
            </a:r>
          </a:p>
        </p:txBody>
      </p:sp>
      <p:sp>
        <p:nvSpPr>
          <p:cNvPr id="40755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College Apparel (CA) and Purdue Store (PS) are two </a:t>
            </a:r>
            <a:r>
              <a:rPr lang="en-US" altLang="en-US" b="1" dirty="0"/>
              <a:t>separate</a:t>
            </a:r>
            <a:r>
              <a:rPr lang="en-US" altLang="en-US" dirty="0"/>
              <a:t> companies: </a:t>
            </a:r>
          </a:p>
          <a:p>
            <a:pPr lvl="1"/>
            <a:r>
              <a:rPr lang="en-US" altLang="en-US" dirty="0"/>
              <a:t>CA produces jerseys for C = $50 each and sells them to PS for W = $</a:t>
            </a:r>
            <a:r>
              <a:rPr lang="en-US" altLang="en-US" dirty="0">
                <a:solidFill>
                  <a:srgbClr val="FF00FF"/>
                </a:solidFill>
              </a:rPr>
              <a:t>75</a:t>
            </a:r>
            <a:r>
              <a:rPr lang="en-US" altLang="en-US" dirty="0"/>
              <a:t> (</a:t>
            </a:r>
            <a:r>
              <a:rPr lang="en-US" altLang="en-US" b="1" dirty="0">
                <a:solidFill>
                  <a:srgbClr val="FF0000"/>
                </a:solidFill>
              </a:rPr>
              <a:t>wholesale price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PS retails them for R = $125 and disposes them for V = $25.</a:t>
            </a:r>
          </a:p>
          <a:p>
            <a:pPr eaLnBrk="1" hangingPunct="1"/>
            <a:r>
              <a:rPr lang="en-US" altLang="en-US" dirty="0"/>
              <a:t>How much should Purdue Store order?</a:t>
            </a:r>
          </a:p>
          <a:p>
            <a:pPr lvl="1" eaLnBrk="1" hangingPunct="1"/>
            <a:r>
              <a:rPr lang="en-US" altLang="en-US" dirty="0"/>
              <a:t>Excess cost:  </a:t>
            </a:r>
          </a:p>
          <a:p>
            <a:pPr lvl="1" eaLnBrk="1" hangingPunct="1"/>
            <a:r>
              <a:rPr lang="en-US" altLang="en-US" dirty="0"/>
              <a:t>Shortage cost: </a:t>
            </a:r>
          </a:p>
          <a:p>
            <a:pPr lvl="1" eaLnBrk="1" hangingPunct="1"/>
            <a:r>
              <a:rPr lang="en-US" altLang="en-US" dirty="0"/>
              <a:t>Critical ratio:</a:t>
            </a:r>
            <a:endParaRPr lang="en-US" altLang="en-US" b="1" dirty="0">
              <a:solidFill>
                <a:srgbClr val="FF000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8E3EF-C80D-49E0-8052-F88DD61DA988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2" descr="https://ag.purdue.edu/agry/intranet/logo/Purdue-Boilermakers.gif?Mobile=1&amp;Source=%2Fagry%2Fintranet%2F_layouts%2Fmobile%2Fview.aspx%3FList%3D19bbe5ea-fddc-4294-9798-d3e60aa39935%26View%3Dc82cce08-9116-42fd-a5bf-0f5554ac2df7%26CurrentPage%3D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5517" y="178449"/>
            <a:ext cx="1008215" cy="941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303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Purdue Apparel Supply Chain</a:t>
            </a:r>
            <a:r>
              <a:rPr lang="en-US" dirty="0"/>
              <a:t> – Decentralized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eaLnBrk="1" hangingPunct="1">
              <a:buNone/>
            </a:pPr>
            <a:r>
              <a:rPr lang="en-US" altLang="en-US" b="1" dirty="0"/>
              <a:t>Purdue Store’s Profit</a:t>
            </a:r>
          </a:p>
          <a:p>
            <a:pPr eaLnBrk="1" hangingPunct="1"/>
            <a:r>
              <a:rPr lang="en-US" altLang="en-US" dirty="0"/>
              <a:t>Purdue Store (PS) has critical ratio 50% and orders Q=200 from College Apparel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8E3EF-C80D-49E0-8052-F88DD61DA988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409604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2842870"/>
              </p:ext>
            </p:extLst>
          </p:nvPr>
        </p:nvGraphicFramePr>
        <p:xfrm>
          <a:off x="790713" y="2617325"/>
          <a:ext cx="4288970" cy="1936094"/>
        </p:xfrm>
        <a:graphic>
          <a:graphicData uri="http://schemas.openxmlformats.org/drawingml/2006/table">
            <a:tbl>
              <a:tblPr/>
              <a:tblGrid>
                <a:gridCol w="969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1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4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3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4766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Demand</a:t>
                      </a: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 (D)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Pr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(D)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Sales</a:t>
                      </a: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=Min(D,200)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Sales *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Pr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(D)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96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100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25%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100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25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96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200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25%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200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50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96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300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25%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200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50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96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400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25%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200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50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09636" name="Rectangle 36"/>
          <p:cNvSpPr>
            <a:spLocks noChangeArrowheads="1"/>
          </p:cNvSpPr>
          <p:nvPr/>
        </p:nvSpPr>
        <p:spPr bwMode="auto">
          <a:xfrm>
            <a:off x="5241476" y="3213043"/>
            <a:ext cx="3902524" cy="1231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10000"/>
              </a:lnSpc>
              <a:spcBef>
                <a:spcPct val="20000"/>
              </a:spcBef>
              <a:buFont typeface="Symbol" panose="05050102010706020507" pitchFamily="18" charset="2"/>
              <a:buNone/>
            </a:pPr>
            <a:r>
              <a:rPr lang="en-US" altLang="en-US" sz="2000" dirty="0">
                <a:solidFill>
                  <a:srgbClr val="663300"/>
                </a:solidFill>
                <a:latin typeface="Book Antiqua" panose="02040602050305030304" pitchFamily="18" charset="0"/>
              </a:rPr>
              <a:t>Expected demand = 250</a:t>
            </a:r>
          </a:p>
          <a:p>
            <a:pPr algn="l" eaLnBrk="1" hangingPunct="1">
              <a:lnSpc>
                <a:spcPct val="110000"/>
              </a:lnSpc>
              <a:spcBef>
                <a:spcPct val="20000"/>
              </a:spcBef>
              <a:buFont typeface="Symbol" panose="05050102010706020507" pitchFamily="18" charset="2"/>
              <a:buNone/>
            </a:pPr>
            <a:r>
              <a:rPr lang="en-US" altLang="en-US" sz="2000" dirty="0">
                <a:solidFill>
                  <a:srgbClr val="663300"/>
                </a:solidFill>
                <a:latin typeface="Book Antiqua" panose="02040602050305030304" pitchFamily="18" charset="0"/>
              </a:rPr>
              <a:t>Expected sales = 175</a:t>
            </a:r>
          </a:p>
          <a:p>
            <a:pPr algn="l" eaLnBrk="1" hangingPunct="1">
              <a:lnSpc>
                <a:spcPct val="110000"/>
              </a:lnSpc>
              <a:spcBef>
                <a:spcPct val="20000"/>
              </a:spcBef>
              <a:buFont typeface="Symbol" panose="05050102010706020507" pitchFamily="18" charset="2"/>
              <a:buNone/>
            </a:pPr>
            <a:r>
              <a:rPr lang="en-US" altLang="en-US" sz="2000" dirty="0">
                <a:solidFill>
                  <a:srgbClr val="663300"/>
                </a:solidFill>
                <a:latin typeface="Book Antiqua" panose="02040602050305030304" pitchFamily="18" charset="0"/>
              </a:rPr>
              <a:t>Expected leftover inventory = 25 </a:t>
            </a:r>
          </a:p>
        </p:txBody>
      </p:sp>
      <p:sp>
        <p:nvSpPr>
          <p:cNvPr id="409637" name="Rectangle 37"/>
          <p:cNvSpPr>
            <a:spLocks noChangeArrowheads="1"/>
          </p:cNvSpPr>
          <p:nvPr/>
        </p:nvSpPr>
        <p:spPr bwMode="auto">
          <a:xfrm>
            <a:off x="913991" y="4703125"/>
            <a:ext cx="7350851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lang="en-US" altLang="en-US" sz="2000" dirty="0">
                <a:solidFill>
                  <a:srgbClr val="663300"/>
                </a:solidFill>
                <a:latin typeface="Book Antiqua" panose="02040602050305030304" pitchFamily="18" charset="0"/>
              </a:rPr>
              <a:t>PS’s expected profit =</a:t>
            </a:r>
            <a:endParaRPr lang="en-US" altLang="en-US" sz="2000" b="1" dirty="0">
              <a:solidFill>
                <a:srgbClr val="663300"/>
              </a:solidFill>
              <a:latin typeface="Book Antiqua" panose="02040602050305030304" pitchFamily="18" charset="0"/>
            </a:endParaRPr>
          </a:p>
        </p:txBody>
      </p:sp>
      <p:pic>
        <p:nvPicPr>
          <p:cNvPr id="8" name="Picture 2" descr="https://ag.purdue.edu/agry/intranet/logo/Purdue-Boilermakers.gif?Mobile=1&amp;Source=%2Fagry%2Fintranet%2F_layouts%2Fmobile%2Fview.aspx%3FList%3D19bbe5ea-fddc-4294-9798-d3e60aa39935%26View%3Dc82cce08-9116-42fd-a5bf-0f5554ac2df7%26CurrentPage%3D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5517" y="178449"/>
            <a:ext cx="1008215" cy="941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2257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Purdue Apparel Supply Chain</a:t>
            </a:r>
            <a:r>
              <a:rPr lang="en-US" dirty="0"/>
              <a:t> – Decentralized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en-US" b="1" dirty="0"/>
              <a:t>College Apparel’s profit</a:t>
            </a:r>
          </a:p>
          <a:p>
            <a:pPr>
              <a:lnSpc>
                <a:spcPct val="100000"/>
              </a:lnSpc>
            </a:pPr>
            <a:r>
              <a:rPr lang="en-US" altLang="en-US" dirty="0">
                <a:solidFill>
                  <a:srgbClr val="663300"/>
                </a:solidFill>
              </a:rPr>
              <a:t>CA produces Q = 200 at a margin $75 - $50 = $25</a:t>
            </a:r>
          </a:p>
          <a:p>
            <a:pPr>
              <a:lnSpc>
                <a:spcPct val="100000"/>
              </a:lnSpc>
            </a:pPr>
            <a:endParaRPr lang="en-US" altLang="en-US" dirty="0">
              <a:solidFill>
                <a:srgbClr val="663300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en-US" dirty="0">
                <a:solidFill>
                  <a:srgbClr val="663300"/>
                </a:solidFill>
              </a:rPr>
              <a:t>CA’s Profit =</a:t>
            </a:r>
          </a:p>
          <a:p>
            <a:pPr>
              <a:lnSpc>
                <a:spcPct val="100000"/>
              </a:lnSpc>
            </a:pPr>
            <a:endParaRPr lang="en-US" altLang="en-US" dirty="0">
              <a:solidFill>
                <a:srgbClr val="663300"/>
              </a:solidFill>
            </a:endParaRPr>
          </a:p>
          <a:p>
            <a:pPr>
              <a:spcBef>
                <a:spcPct val="20000"/>
              </a:spcBef>
              <a:buSzPct val="90000"/>
            </a:pPr>
            <a:r>
              <a:rPr lang="en-US" altLang="en-US" dirty="0"/>
              <a:t>Total supply chain profit =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8E3EF-C80D-49E0-8052-F88DD61DA988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2" descr="https://ag.purdue.edu/agry/intranet/logo/Purdue-Boilermakers.gif?Mobile=1&amp;Source=%2Fagry%2Fintranet%2F_layouts%2Fmobile%2Fview.aspx%3FList%3D19bbe5ea-fddc-4294-9798-d3e60aa39935%26View%3Dc82cce08-9116-42fd-a5bf-0f5554ac2df7%26CurrentPage%3D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5517" y="178449"/>
            <a:ext cx="1008215" cy="941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25464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Purdue Apparel Supply Chain – Centralized</a:t>
            </a:r>
          </a:p>
        </p:txBody>
      </p:sp>
      <p:sp>
        <p:nvSpPr>
          <p:cNvPr id="4403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80000"/>
              </a:lnSpc>
            </a:pPr>
            <a:r>
              <a:rPr lang="en-US" altLang="en-US" dirty="0"/>
              <a:t>College Apparel (CA) produces one jersey for C = $</a:t>
            </a:r>
            <a:r>
              <a:rPr lang="en-US" altLang="en-US" dirty="0">
                <a:solidFill>
                  <a:srgbClr val="FF00FF"/>
                </a:solidFill>
              </a:rPr>
              <a:t>50</a:t>
            </a:r>
            <a:r>
              <a:rPr lang="en-US" altLang="en-US" dirty="0"/>
              <a:t>. </a:t>
            </a:r>
          </a:p>
          <a:p>
            <a:pPr eaLnBrk="1" hangingPunct="1">
              <a:lnSpc>
                <a:spcPct val="180000"/>
              </a:lnSpc>
            </a:pPr>
            <a:r>
              <a:rPr lang="en-US" altLang="en-US" dirty="0"/>
              <a:t>Purdue Store (PS) retails them for R = $125 and “disposes” them for V = $25 (e.g., post-season sale).</a:t>
            </a:r>
          </a:p>
          <a:p>
            <a:pPr eaLnBrk="1" hangingPunct="1">
              <a:lnSpc>
                <a:spcPct val="180000"/>
              </a:lnSpc>
            </a:pPr>
            <a:r>
              <a:rPr lang="en-US" altLang="en-US" dirty="0"/>
              <a:t>Supply chain’s best decision: suppose CA and PS are owned by one company</a:t>
            </a:r>
          </a:p>
          <a:p>
            <a:pPr eaLnBrk="1" hangingPunct="1">
              <a:lnSpc>
                <a:spcPct val="180000"/>
              </a:lnSpc>
            </a:pPr>
            <a:r>
              <a:rPr lang="en-US" altLang="en-US" dirty="0"/>
              <a:t>How much should the SC order: Newsvendor problem</a:t>
            </a:r>
          </a:p>
          <a:p>
            <a:pPr lvl="1">
              <a:lnSpc>
                <a:spcPct val="120000"/>
              </a:lnSpc>
            </a:pPr>
            <a:r>
              <a:rPr lang="en-US" altLang="en-US" dirty="0"/>
              <a:t>Excess cost (“leftover cost”): C</a:t>
            </a:r>
            <a:r>
              <a:rPr lang="en-US" altLang="en-US" baseline="-25000" dirty="0"/>
              <a:t>e</a:t>
            </a:r>
            <a:r>
              <a:rPr lang="en-US" altLang="en-US" dirty="0"/>
              <a:t> = C – V = </a:t>
            </a:r>
            <a:r>
              <a:rPr lang="en-US" altLang="en-US" dirty="0">
                <a:solidFill>
                  <a:srgbClr val="FF00FF"/>
                </a:solidFill>
              </a:rPr>
              <a:t>50</a:t>
            </a:r>
            <a:r>
              <a:rPr lang="en-US" altLang="en-US" dirty="0"/>
              <a:t> – 25 = 25</a:t>
            </a:r>
          </a:p>
          <a:p>
            <a:pPr lvl="1">
              <a:lnSpc>
                <a:spcPct val="120000"/>
              </a:lnSpc>
            </a:pPr>
            <a:r>
              <a:rPr lang="en-US" altLang="en-US" dirty="0"/>
              <a:t>Shortage cost (“profit”): C</a:t>
            </a:r>
            <a:r>
              <a:rPr lang="en-US" altLang="en-US" baseline="-25000" dirty="0"/>
              <a:t>s</a:t>
            </a:r>
            <a:r>
              <a:rPr lang="en-US" altLang="en-US" dirty="0"/>
              <a:t> = R – C = 125 – </a:t>
            </a:r>
            <a:r>
              <a:rPr lang="en-US" altLang="en-US" dirty="0">
                <a:solidFill>
                  <a:srgbClr val="FF00FF"/>
                </a:solidFill>
              </a:rPr>
              <a:t>50</a:t>
            </a:r>
            <a:r>
              <a:rPr lang="en-US" altLang="en-US" dirty="0"/>
              <a:t> = 75</a:t>
            </a:r>
          </a:p>
          <a:p>
            <a:pPr lvl="1">
              <a:lnSpc>
                <a:spcPct val="120000"/>
              </a:lnSpc>
            </a:pPr>
            <a:r>
              <a:rPr lang="en-US" altLang="en-US" dirty="0"/>
              <a:t>Critical ratio: 75/(25+75) = </a:t>
            </a:r>
            <a:r>
              <a:rPr lang="en-US" altLang="en-US" dirty="0">
                <a:solidFill>
                  <a:srgbClr val="FF0000"/>
                </a:solidFill>
              </a:rPr>
              <a:t>75</a:t>
            </a:r>
            <a:r>
              <a:rPr lang="en-US" altLang="en-US" b="1" dirty="0">
                <a:solidFill>
                  <a:srgbClr val="FF0000"/>
                </a:solidFill>
              </a:rPr>
              <a:t>%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8E3EF-C80D-49E0-8052-F88DD61DA988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2" descr="https://ag.purdue.edu/agry/intranet/logo/Purdue-Boilermakers.gif?Mobile=1&amp;Source=%2Fagry%2Fintranet%2F_layouts%2Fmobile%2Fview.aspx%3FList%3D19bbe5ea-fddc-4294-9798-d3e60aa39935%26View%3Dc82cce08-9116-42fd-a5bf-0f5554ac2df7%26CurrentPage%3D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5517" y="178449"/>
            <a:ext cx="1008215" cy="941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4053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Purdue Apparel Supply Chain – Centralized</a:t>
            </a:r>
            <a:endParaRPr lang="en-US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Critical ratio = </a:t>
            </a:r>
            <a:r>
              <a:rPr lang="en-US" altLang="en-US" dirty="0">
                <a:highlight>
                  <a:srgbClr val="C0C0C0"/>
                </a:highlight>
              </a:rPr>
              <a:t>75%</a:t>
            </a:r>
            <a:r>
              <a:rPr lang="en-US" altLang="en-US" dirty="0"/>
              <a:t>, and the supply chain will produce Q=300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8E3EF-C80D-49E0-8052-F88DD61DA988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411652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663405"/>
              </p:ext>
            </p:extLst>
          </p:nvPr>
        </p:nvGraphicFramePr>
        <p:xfrm>
          <a:off x="0" y="1971722"/>
          <a:ext cx="5260656" cy="2163224"/>
        </p:xfrm>
        <a:graphic>
          <a:graphicData uri="http://schemas.openxmlformats.org/drawingml/2006/table">
            <a:tbl>
              <a:tblPr/>
              <a:tblGrid>
                <a:gridCol w="10235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0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0594">
                  <a:extLst>
                    <a:ext uri="{9D8B030D-6E8A-4147-A177-3AD203B41FA5}">
                      <a16:colId xmlns:a16="http://schemas.microsoft.com/office/drawing/2014/main" val="3677639541"/>
                    </a:ext>
                  </a:extLst>
                </a:gridCol>
                <a:gridCol w="13992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66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91896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Demand</a:t>
                      </a: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 (D)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Pr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(D)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</a:rPr>
                        <a:t>CDF</a:t>
                      </a: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Sales</a:t>
                      </a: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=Min(D,300)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Sales *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Pr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(D)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261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100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25%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</a:rPr>
                        <a:t>0.25</a:t>
                      </a: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100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100*0.25=25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261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200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25%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</a:rPr>
                        <a:t>0.50</a:t>
                      </a: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200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200*0.25=50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261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highlight>
                            <a:srgbClr val="FFFF00"/>
                          </a:highlight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300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highlight>
                          <a:srgbClr val="FFFF00"/>
                        </a:highlight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highlight>
                            <a:srgbClr val="FFFF00"/>
                          </a:highlight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25%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highlight>
                          <a:srgbClr val="FFFF00"/>
                        </a:highlight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Book Antiqua" pitchFamily="18" charset="0"/>
                          <a:ea typeface="宋体" pitchFamily="2" charset="-122"/>
                        </a:rPr>
                        <a:t>0.75</a:t>
                      </a: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300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300*0.25=75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261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400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25%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300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300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*0.25=75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11684" name="Rectangle 36"/>
          <p:cNvSpPr>
            <a:spLocks noChangeArrowheads="1"/>
          </p:cNvSpPr>
          <p:nvPr/>
        </p:nvSpPr>
        <p:spPr bwMode="auto">
          <a:xfrm>
            <a:off x="5335362" y="2640485"/>
            <a:ext cx="3298370" cy="1421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10000"/>
              </a:lnSpc>
              <a:spcBef>
                <a:spcPct val="20000"/>
              </a:spcBef>
              <a:buFont typeface="Symbol" panose="05050102010706020507" pitchFamily="18" charset="2"/>
              <a:buNone/>
            </a:pPr>
            <a:r>
              <a:rPr lang="en-US" altLang="en-US" dirty="0">
                <a:solidFill>
                  <a:srgbClr val="663300"/>
                </a:solidFill>
                <a:latin typeface="Book Antiqua" panose="02040602050305030304" pitchFamily="18" charset="0"/>
              </a:rPr>
              <a:t>Expected demand = 250</a:t>
            </a:r>
          </a:p>
          <a:p>
            <a:pPr algn="l" eaLnBrk="1" hangingPunct="1">
              <a:lnSpc>
                <a:spcPct val="110000"/>
              </a:lnSpc>
              <a:spcBef>
                <a:spcPct val="20000"/>
              </a:spcBef>
              <a:buFont typeface="Symbol" panose="05050102010706020507" pitchFamily="18" charset="2"/>
              <a:buNone/>
            </a:pPr>
            <a:r>
              <a:rPr lang="en-US" altLang="en-US" dirty="0">
                <a:solidFill>
                  <a:srgbClr val="663300"/>
                </a:solidFill>
                <a:latin typeface="Book Antiqua" panose="02040602050305030304" pitchFamily="18" charset="0"/>
              </a:rPr>
              <a:t>Expected sales = </a:t>
            </a:r>
            <a:r>
              <a:rPr lang="en-US" altLang="en-US" dirty="0">
                <a:solidFill>
                  <a:srgbClr val="663300"/>
                </a:solidFill>
                <a:highlight>
                  <a:srgbClr val="FFFF00"/>
                </a:highlight>
                <a:latin typeface="Book Antiqua" panose="02040602050305030304" pitchFamily="18" charset="0"/>
              </a:rPr>
              <a:t>225</a:t>
            </a:r>
          </a:p>
          <a:p>
            <a:pPr algn="l" eaLnBrk="1" hangingPunct="1">
              <a:lnSpc>
                <a:spcPct val="110000"/>
              </a:lnSpc>
              <a:spcBef>
                <a:spcPct val="20000"/>
              </a:spcBef>
              <a:buFont typeface="Symbol" panose="05050102010706020507" pitchFamily="18" charset="2"/>
              <a:buNone/>
            </a:pPr>
            <a:r>
              <a:rPr lang="en-US" altLang="en-US" dirty="0">
                <a:solidFill>
                  <a:srgbClr val="663300"/>
                </a:solidFill>
                <a:latin typeface="Book Antiqua" panose="02040602050305030304" pitchFamily="18" charset="0"/>
              </a:rPr>
              <a:t>Expected leftover inventory = Q- E[sales]= 300 – </a:t>
            </a:r>
            <a:r>
              <a:rPr lang="en-US" altLang="en-US" dirty="0">
                <a:solidFill>
                  <a:srgbClr val="663300"/>
                </a:solidFill>
                <a:highlight>
                  <a:srgbClr val="FFFF00"/>
                </a:highlight>
                <a:latin typeface="Book Antiqua" panose="02040602050305030304" pitchFamily="18" charset="0"/>
              </a:rPr>
              <a:t>225</a:t>
            </a:r>
            <a:r>
              <a:rPr lang="en-US" altLang="en-US" dirty="0">
                <a:solidFill>
                  <a:srgbClr val="663300"/>
                </a:solidFill>
                <a:latin typeface="Book Antiqua" panose="02040602050305030304" pitchFamily="18" charset="0"/>
              </a:rPr>
              <a:t> = </a:t>
            </a:r>
            <a:r>
              <a:rPr lang="en-US" altLang="en-US" dirty="0">
                <a:solidFill>
                  <a:srgbClr val="663300"/>
                </a:solidFill>
                <a:highlight>
                  <a:srgbClr val="00FFFF"/>
                </a:highlight>
                <a:latin typeface="Book Antiqua" panose="02040602050305030304" pitchFamily="18" charset="0"/>
              </a:rPr>
              <a:t>75</a:t>
            </a:r>
            <a:r>
              <a:rPr lang="en-US" altLang="en-US" dirty="0">
                <a:solidFill>
                  <a:srgbClr val="663300"/>
                </a:solidFill>
                <a:latin typeface="Book Antiqua" panose="02040602050305030304" pitchFamily="18" charset="0"/>
              </a:rPr>
              <a:t> </a:t>
            </a:r>
          </a:p>
        </p:txBody>
      </p:sp>
      <p:sp>
        <p:nvSpPr>
          <p:cNvPr id="411685" name="Rectangle 37"/>
          <p:cNvSpPr>
            <a:spLocks noChangeArrowheads="1"/>
          </p:cNvSpPr>
          <p:nvPr/>
        </p:nvSpPr>
        <p:spPr bwMode="auto">
          <a:xfrm>
            <a:off x="1005839" y="4662140"/>
            <a:ext cx="8001000" cy="815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lang="en-US" altLang="en-US" sz="2000" dirty="0">
                <a:solidFill>
                  <a:srgbClr val="663300"/>
                </a:solidFill>
                <a:latin typeface="Book Antiqua" panose="02040602050305030304" pitchFamily="18" charset="0"/>
              </a:rPr>
              <a:t>Supply chain’s profit = </a:t>
            </a:r>
            <a:r>
              <a:rPr lang="en-US" altLang="en-US" sz="2000" dirty="0">
                <a:solidFill>
                  <a:srgbClr val="FF0000"/>
                </a:solidFill>
                <a:latin typeface="Book Antiqua" panose="02040602050305030304" pitchFamily="18" charset="0"/>
              </a:rPr>
              <a:t>E[sale]*(R-C) – E[leftover]*(C-V)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lang="en-US" altLang="en-US" sz="2000" dirty="0">
                <a:solidFill>
                  <a:srgbClr val="663300"/>
                </a:solidFill>
                <a:latin typeface="Book Antiqua" panose="02040602050305030304" pitchFamily="18" charset="0"/>
              </a:rPr>
              <a:t> = </a:t>
            </a:r>
            <a:r>
              <a:rPr lang="en-US" altLang="en-US" sz="2000" dirty="0">
                <a:solidFill>
                  <a:srgbClr val="663300"/>
                </a:solidFill>
                <a:highlight>
                  <a:srgbClr val="FFFF00"/>
                </a:highlight>
                <a:latin typeface="Book Antiqua" panose="02040602050305030304" pitchFamily="18" charset="0"/>
              </a:rPr>
              <a:t>225</a:t>
            </a:r>
            <a:r>
              <a:rPr lang="en-US" altLang="en-US" sz="2000" dirty="0">
                <a:solidFill>
                  <a:srgbClr val="663300"/>
                </a:solidFill>
                <a:latin typeface="Book Antiqua" panose="02040602050305030304" pitchFamily="18" charset="0"/>
              </a:rPr>
              <a:t> * (125 – 50) – </a:t>
            </a:r>
            <a:r>
              <a:rPr lang="en-US" altLang="en-US" sz="2000" dirty="0">
                <a:solidFill>
                  <a:srgbClr val="663300"/>
                </a:solidFill>
                <a:highlight>
                  <a:srgbClr val="00FFFF"/>
                </a:highlight>
                <a:latin typeface="Book Antiqua" panose="02040602050305030304" pitchFamily="18" charset="0"/>
              </a:rPr>
              <a:t>75</a:t>
            </a:r>
            <a:r>
              <a:rPr lang="en-US" altLang="en-US" sz="2000" dirty="0">
                <a:solidFill>
                  <a:srgbClr val="663300"/>
                </a:solidFill>
                <a:latin typeface="Book Antiqua" panose="02040602050305030304" pitchFamily="18" charset="0"/>
              </a:rPr>
              <a:t> * (50 – 25) = </a:t>
            </a:r>
            <a:r>
              <a:rPr lang="en-US" altLang="en-US" sz="2000" b="1" dirty="0">
                <a:solidFill>
                  <a:srgbClr val="663300"/>
                </a:solidFill>
                <a:latin typeface="Book Antiqua" panose="02040602050305030304" pitchFamily="18" charset="0"/>
              </a:rPr>
              <a:t>$15,000</a:t>
            </a:r>
          </a:p>
        </p:txBody>
      </p:sp>
      <p:pic>
        <p:nvPicPr>
          <p:cNvPr id="8" name="Picture 2" descr="https://ag.purdue.edu/agry/intranet/logo/Purdue-Boilermakers.gif?Mobile=1&amp;Source=%2Fagry%2Fintranet%2F_layouts%2Fmobile%2Fview.aspx%3FList%3D19bbe5ea-fddc-4294-9798-d3e60aa39935%26View%3Dc82cce08-9116-42fd-a5bf-0f5554ac2df7%26CurrentPage%3D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5517" y="178449"/>
            <a:ext cx="1008215" cy="941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0102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68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Purdue Apparel Supply Chain</a:t>
            </a:r>
            <a:r>
              <a:rPr lang="en-US" dirty="0"/>
              <a:t> – Decentralized</a:t>
            </a:r>
          </a:p>
        </p:txBody>
      </p:sp>
      <p:sp>
        <p:nvSpPr>
          <p:cNvPr id="40755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College Apparel (CA) and Purdue Store (PS) are two </a:t>
            </a:r>
            <a:r>
              <a:rPr lang="en-US" altLang="en-US" b="1" dirty="0"/>
              <a:t>separate</a:t>
            </a:r>
            <a:r>
              <a:rPr lang="en-US" altLang="en-US" dirty="0"/>
              <a:t> companies: </a:t>
            </a:r>
          </a:p>
          <a:p>
            <a:pPr lvl="1"/>
            <a:r>
              <a:rPr lang="en-US" altLang="en-US" dirty="0"/>
              <a:t>CA produces jerseys for C = $50 each and sells them to PS for W = $</a:t>
            </a:r>
            <a:r>
              <a:rPr lang="en-US" altLang="en-US" dirty="0">
                <a:solidFill>
                  <a:srgbClr val="FF00FF"/>
                </a:solidFill>
              </a:rPr>
              <a:t>75</a:t>
            </a:r>
            <a:r>
              <a:rPr lang="en-US" altLang="en-US" dirty="0"/>
              <a:t> (</a:t>
            </a:r>
            <a:r>
              <a:rPr lang="en-US" altLang="en-US" b="1" dirty="0">
                <a:solidFill>
                  <a:srgbClr val="FF0000"/>
                </a:solidFill>
              </a:rPr>
              <a:t>wholesale price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PS retails them for R = $125 and disposes them for V = $25.</a:t>
            </a:r>
          </a:p>
          <a:p>
            <a:pPr eaLnBrk="1" hangingPunct="1"/>
            <a:r>
              <a:rPr lang="en-US" altLang="en-US" dirty="0"/>
              <a:t>How much should Purdue Store order?</a:t>
            </a:r>
          </a:p>
          <a:p>
            <a:pPr lvl="1" eaLnBrk="1" hangingPunct="1"/>
            <a:r>
              <a:rPr lang="en-US" altLang="en-US" dirty="0"/>
              <a:t>Excess cost:  Ce = </a:t>
            </a:r>
            <a:r>
              <a:rPr lang="en-US" altLang="en-US" dirty="0">
                <a:solidFill>
                  <a:srgbClr val="FF00FF"/>
                </a:solidFill>
              </a:rPr>
              <a:t>75</a:t>
            </a:r>
            <a:r>
              <a:rPr lang="en-US" altLang="en-US" dirty="0"/>
              <a:t> – 25 = 50</a:t>
            </a:r>
          </a:p>
          <a:p>
            <a:pPr lvl="1" eaLnBrk="1" hangingPunct="1"/>
            <a:r>
              <a:rPr lang="en-US" altLang="en-US" dirty="0"/>
              <a:t>Shortage cost: Cs = 125 – </a:t>
            </a:r>
            <a:r>
              <a:rPr lang="en-US" altLang="en-US" dirty="0">
                <a:solidFill>
                  <a:srgbClr val="FF00FF"/>
                </a:solidFill>
              </a:rPr>
              <a:t>75</a:t>
            </a:r>
            <a:r>
              <a:rPr lang="en-US" altLang="en-US" dirty="0"/>
              <a:t> = 50</a:t>
            </a:r>
          </a:p>
          <a:p>
            <a:pPr lvl="1" eaLnBrk="1" hangingPunct="1"/>
            <a:r>
              <a:rPr lang="en-US" altLang="en-US" dirty="0"/>
              <a:t>Critical ratio: 50/(50+50) = </a:t>
            </a:r>
            <a:r>
              <a:rPr lang="en-US" altLang="en-US" dirty="0">
                <a:solidFill>
                  <a:srgbClr val="FF0000"/>
                </a:solidFill>
              </a:rPr>
              <a:t>50</a:t>
            </a:r>
            <a:r>
              <a:rPr lang="en-US" altLang="en-US" b="1" dirty="0">
                <a:solidFill>
                  <a:srgbClr val="FF0000"/>
                </a:solidFill>
              </a:rPr>
              <a:t>%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8E3EF-C80D-49E0-8052-F88DD61DA988}" type="slidenum">
              <a:rPr lang="en-US" smtClean="0"/>
              <a:t>14</a:t>
            </a:fld>
            <a:endParaRPr lang="en-US"/>
          </a:p>
        </p:txBody>
      </p:sp>
      <p:pic>
        <p:nvPicPr>
          <p:cNvPr id="6" name="Picture 2" descr="https://ag.purdue.edu/agry/intranet/logo/Purdue-Boilermakers.gif?Mobile=1&amp;Source=%2Fagry%2Fintranet%2F_layouts%2Fmobile%2Fview.aspx%3FList%3D19bbe5ea-fddc-4294-9798-d3e60aa39935%26View%3Dc82cce08-9116-42fd-a5bf-0f5554ac2df7%26CurrentPage%3D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5517" y="178449"/>
            <a:ext cx="1008215" cy="941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455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Purdue Apparel Supply Chain</a:t>
            </a:r>
            <a:r>
              <a:rPr lang="en-US" dirty="0"/>
              <a:t> – Decentralized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eaLnBrk="1" hangingPunct="1">
              <a:buNone/>
            </a:pPr>
            <a:r>
              <a:rPr lang="en-US" altLang="en-US" b="1" dirty="0"/>
              <a:t>Purdue Store’s Profit</a:t>
            </a:r>
          </a:p>
          <a:p>
            <a:pPr eaLnBrk="1" hangingPunct="1"/>
            <a:r>
              <a:rPr lang="en-US" altLang="en-US" dirty="0"/>
              <a:t>Purdue Store (PS) has critical ratio </a:t>
            </a:r>
            <a:r>
              <a:rPr lang="en-US" altLang="en-US" dirty="0">
                <a:highlight>
                  <a:srgbClr val="C0C0C0"/>
                </a:highlight>
              </a:rPr>
              <a:t>50% </a:t>
            </a:r>
            <a:r>
              <a:rPr lang="en-US" altLang="en-US" dirty="0"/>
              <a:t>and orders </a:t>
            </a:r>
            <a:r>
              <a:rPr lang="en-US" altLang="en-US" dirty="0">
                <a:solidFill>
                  <a:srgbClr val="FF0000"/>
                </a:solidFill>
              </a:rPr>
              <a:t>Q=200 </a:t>
            </a:r>
            <a:r>
              <a:rPr lang="en-US" altLang="en-US" dirty="0"/>
              <a:t>from College Apparel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8E3EF-C80D-49E0-8052-F88DD61DA988}" type="slidenum">
              <a:rPr lang="en-US" smtClean="0"/>
              <a:t>15</a:t>
            </a:fld>
            <a:endParaRPr lang="en-US"/>
          </a:p>
        </p:txBody>
      </p:sp>
      <p:graphicFrame>
        <p:nvGraphicFramePr>
          <p:cNvPr id="409604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7835586"/>
              </p:ext>
            </p:extLst>
          </p:nvPr>
        </p:nvGraphicFramePr>
        <p:xfrm>
          <a:off x="297451" y="2414971"/>
          <a:ext cx="4534582" cy="2171360"/>
        </p:xfrm>
        <a:graphic>
          <a:graphicData uri="http://schemas.openxmlformats.org/drawingml/2006/table">
            <a:tbl>
              <a:tblPr/>
              <a:tblGrid>
                <a:gridCol w="882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97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9758">
                  <a:extLst>
                    <a:ext uri="{9D8B030D-6E8A-4147-A177-3AD203B41FA5}">
                      <a16:colId xmlns:a16="http://schemas.microsoft.com/office/drawing/2014/main" val="2272888265"/>
                    </a:ext>
                  </a:extLst>
                </a:gridCol>
                <a:gridCol w="12060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66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4766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Demand</a:t>
                      </a: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 (D)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Pr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(D)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</a:rPr>
                        <a:t>CDF</a:t>
                      </a: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Sales</a:t>
                      </a: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=Min(D,200)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Sales *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Pr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(D)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96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100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25%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</a:rPr>
                        <a:t>0.25</a:t>
                      </a: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100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25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96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highlight>
                            <a:srgbClr val="C0C0C0"/>
                          </a:highlight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200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highlight>
                          <a:srgbClr val="C0C0C0"/>
                        </a:highlight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highlight>
                            <a:srgbClr val="C0C0C0"/>
                          </a:highlight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25%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highlight>
                          <a:srgbClr val="C0C0C0"/>
                        </a:highlight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C0C0C0"/>
                          </a:highlight>
                          <a:latin typeface="Book Antiqua" pitchFamily="18" charset="0"/>
                          <a:ea typeface="宋体" pitchFamily="2" charset="-122"/>
                        </a:rPr>
                        <a:t>0.50</a:t>
                      </a: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200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50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96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300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25%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</a:rPr>
                        <a:t>0.75</a:t>
                      </a: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200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50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96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400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25%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200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  <a:cs typeface="Arial" charset="0"/>
                        </a:rPr>
                        <a:t>50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56" marB="3425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09636" name="Rectangle 36"/>
          <p:cNvSpPr>
            <a:spLocks noChangeArrowheads="1"/>
          </p:cNvSpPr>
          <p:nvPr/>
        </p:nvSpPr>
        <p:spPr bwMode="auto">
          <a:xfrm>
            <a:off x="5241476" y="3213043"/>
            <a:ext cx="3902524" cy="1231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10000"/>
              </a:lnSpc>
              <a:spcBef>
                <a:spcPct val="20000"/>
              </a:spcBef>
              <a:buFont typeface="Symbol" panose="05050102010706020507" pitchFamily="18" charset="2"/>
              <a:buNone/>
            </a:pPr>
            <a:r>
              <a:rPr lang="en-US" altLang="en-US" sz="2000" dirty="0">
                <a:solidFill>
                  <a:srgbClr val="663300"/>
                </a:solidFill>
                <a:latin typeface="Book Antiqua" panose="02040602050305030304" pitchFamily="18" charset="0"/>
              </a:rPr>
              <a:t>Expected demand = 250</a:t>
            </a:r>
          </a:p>
          <a:p>
            <a:pPr algn="l" eaLnBrk="1" hangingPunct="1">
              <a:lnSpc>
                <a:spcPct val="110000"/>
              </a:lnSpc>
              <a:spcBef>
                <a:spcPct val="20000"/>
              </a:spcBef>
              <a:buFont typeface="Symbol" panose="05050102010706020507" pitchFamily="18" charset="2"/>
              <a:buNone/>
            </a:pPr>
            <a:r>
              <a:rPr lang="en-US" altLang="en-US" sz="2000" dirty="0">
                <a:solidFill>
                  <a:srgbClr val="663300"/>
                </a:solidFill>
                <a:latin typeface="Book Antiqua" panose="02040602050305030304" pitchFamily="18" charset="0"/>
              </a:rPr>
              <a:t>Expected sales = </a:t>
            </a:r>
            <a:r>
              <a:rPr lang="en-US" altLang="en-US" sz="2000" dirty="0">
                <a:solidFill>
                  <a:srgbClr val="663300"/>
                </a:solidFill>
                <a:highlight>
                  <a:srgbClr val="FFFF00"/>
                </a:highlight>
                <a:latin typeface="Book Antiqua" panose="02040602050305030304" pitchFamily="18" charset="0"/>
              </a:rPr>
              <a:t>175</a:t>
            </a:r>
          </a:p>
          <a:p>
            <a:pPr algn="l" eaLnBrk="1" hangingPunct="1">
              <a:lnSpc>
                <a:spcPct val="110000"/>
              </a:lnSpc>
              <a:spcBef>
                <a:spcPct val="20000"/>
              </a:spcBef>
              <a:buFont typeface="Symbol" panose="05050102010706020507" pitchFamily="18" charset="2"/>
              <a:buNone/>
            </a:pPr>
            <a:r>
              <a:rPr lang="en-US" altLang="en-US" sz="2000" dirty="0">
                <a:solidFill>
                  <a:srgbClr val="663300"/>
                </a:solidFill>
                <a:latin typeface="Book Antiqua" panose="02040602050305030304" pitchFamily="18" charset="0"/>
              </a:rPr>
              <a:t>Expected leftover inventory = </a:t>
            </a:r>
            <a:r>
              <a:rPr lang="en-US" altLang="en-US" sz="2000" dirty="0">
                <a:solidFill>
                  <a:srgbClr val="663300"/>
                </a:solidFill>
                <a:highlight>
                  <a:srgbClr val="00FFFF"/>
                </a:highlight>
                <a:latin typeface="Book Antiqua" panose="02040602050305030304" pitchFamily="18" charset="0"/>
              </a:rPr>
              <a:t>25</a:t>
            </a:r>
            <a:r>
              <a:rPr lang="en-US" altLang="en-US" sz="2000" dirty="0">
                <a:solidFill>
                  <a:srgbClr val="663300"/>
                </a:solidFill>
                <a:latin typeface="Book Antiqua" panose="02040602050305030304" pitchFamily="18" charset="0"/>
              </a:rPr>
              <a:t> </a:t>
            </a:r>
          </a:p>
        </p:txBody>
      </p:sp>
      <p:sp>
        <p:nvSpPr>
          <p:cNvPr id="409637" name="Rectangle 37"/>
          <p:cNvSpPr>
            <a:spLocks noChangeArrowheads="1"/>
          </p:cNvSpPr>
          <p:nvPr/>
        </p:nvSpPr>
        <p:spPr bwMode="auto">
          <a:xfrm>
            <a:off x="764449" y="4877689"/>
            <a:ext cx="7350851" cy="815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lang="en-US" altLang="en-US" sz="2000" dirty="0">
                <a:solidFill>
                  <a:srgbClr val="663300"/>
                </a:solidFill>
                <a:latin typeface="Book Antiqua" panose="02040602050305030304" pitchFamily="18" charset="0"/>
              </a:rPr>
              <a:t>PS’s expected profit =</a:t>
            </a:r>
            <a:r>
              <a:rPr lang="en-US" altLang="en-US" sz="2000" dirty="0">
                <a:solidFill>
                  <a:srgbClr val="FF0000"/>
                </a:solidFill>
                <a:latin typeface="Book Antiqua" panose="02040602050305030304" pitchFamily="18" charset="0"/>
              </a:rPr>
              <a:t>E[sale]*(R-C) – E[leftover]*(C-V)</a:t>
            </a:r>
            <a:endParaRPr lang="en-US" altLang="en-US" sz="2000" dirty="0">
              <a:solidFill>
                <a:srgbClr val="663300"/>
              </a:solidFill>
              <a:latin typeface="Book Antiqua" panose="0204060205030503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lang="en-US" altLang="en-US" sz="2000" dirty="0">
                <a:solidFill>
                  <a:srgbClr val="663300"/>
                </a:solidFill>
                <a:latin typeface="Book Antiqua" panose="02040602050305030304" pitchFamily="18" charset="0"/>
              </a:rPr>
              <a:t>= </a:t>
            </a:r>
            <a:r>
              <a:rPr lang="en-US" altLang="en-US" sz="2000" dirty="0">
                <a:solidFill>
                  <a:srgbClr val="663300"/>
                </a:solidFill>
                <a:highlight>
                  <a:srgbClr val="FFFF00"/>
                </a:highlight>
                <a:latin typeface="Book Antiqua" panose="02040602050305030304" pitchFamily="18" charset="0"/>
              </a:rPr>
              <a:t>175</a:t>
            </a:r>
            <a:r>
              <a:rPr lang="en-US" altLang="en-US" sz="2000" dirty="0">
                <a:solidFill>
                  <a:srgbClr val="663300"/>
                </a:solidFill>
                <a:latin typeface="Book Antiqua" panose="02040602050305030304" pitchFamily="18" charset="0"/>
              </a:rPr>
              <a:t> * (125 – 75) – </a:t>
            </a:r>
            <a:r>
              <a:rPr lang="en-US" altLang="en-US" sz="2000" dirty="0">
                <a:solidFill>
                  <a:srgbClr val="663300"/>
                </a:solidFill>
                <a:highlight>
                  <a:srgbClr val="00FFFF"/>
                </a:highlight>
                <a:latin typeface="Book Antiqua" panose="02040602050305030304" pitchFamily="18" charset="0"/>
              </a:rPr>
              <a:t>25</a:t>
            </a:r>
            <a:r>
              <a:rPr lang="en-US" altLang="en-US" sz="2000" dirty="0">
                <a:solidFill>
                  <a:srgbClr val="663300"/>
                </a:solidFill>
                <a:latin typeface="Book Antiqua" panose="02040602050305030304" pitchFamily="18" charset="0"/>
              </a:rPr>
              <a:t> * (75 – 25) = </a:t>
            </a:r>
            <a:r>
              <a:rPr lang="en-US" altLang="en-US" sz="2000" b="1" dirty="0">
                <a:solidFill>
                  <a:srgbClr val="663300"/>
                </a:solidFill>
                <a:latin typeface="Book Antiqua" panose="02040602050305030304" pitchFamily="18" charset="0"/>
              </a:rPr>
              <a:t>$7,500</a:t>
            </a:r>
          </a:p>
        </p:txBody>
      </p:sp>
      <p:pic>
        <p:nvPicPr>
          <p:cNvPr id="8" name="Picture 2" descr="https://ag.purdue.edu/agry/intranet/logo/Purdue-Boilermakers.gif?Mobile=1&amp;Source=%2Fagry%2Fintranet%2F_layouts%2Fmobile%2Fview.aspx%3FList%3D19bbe5ea-fddc-4294-9798-d3e60aa39935%26View%3Dc82cce08-9116-42fd-a5bf-0f5554ac2df7%26CurrentPage%3D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5517" y="178449"/>
            <a:ext cx="1008215" cy="941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3526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Purdue Apparel Supply Chain</a:t>
            </a:r>
            <a:r>
              <a:rPr lang="en-US" dirty="0"/>
              <a:t> – Decentralized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en-US" b="1" dirty="0"/>
              <a:t>College Apparel’s profit</a:t>
            </a:r>
          </a:p>
          <a:p>
            <a:pPr>
              <a:lnSpc>
                <a:spcPct val="100000"/>
              </a:lnSpc>
            </a:pPr>
            <a:r>
              <a:rPr lang="en-US" altLang="en-US" dirty="0">
                <a:solidFill>
                  <a:srgbClr val="663300"/>
                </a:solidFill>
              </a:rPr>
              <a:t>CA produces Q = 200 at a margin = </a:t>
            </a:r>
            <a:r>
              <a:rPr lang="en-US" altLang="en-US" dirty="0">
                <a:solidFill>
                  <a:srgbClr val="FF0000"/>
                </a:solidFill>
              </a:rPr>
              <a:t>W – C </a:t>
            </a:r>
            <a:r>
              <a:rPr lang="en-US" altLang="en-US" dirty="0">
                <a:solidFill>
                  <a:srgbClr val="663300"/>
                </a:solidFill>
              </a:rPr>
              <a:t>= $75 - $50 = $25</a:t>
            </a:r>
          </a:p>
          <a:p>
            <a:pPr>
              <a:lnSpc>
                <a:spcPct val="100000"/>
              </a:lnSpc>
            </a:pPr>
            <a:endParaRPr lang="en-US" altLang="en-US" dirty="0">
              <a:solidFill>
                <a:srgbClr val="663300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en-US" dirty="0">
                <a:solidFill>
                  <a:srgbClr val="663300"/>
                </a:solidFill>
              </a:rPr>
              <a:t>CA’s Profit = 25 * 200 = </a:t>
            </a:r>
            <a:r>
              <a:rPr lang="en-US" altLang="en-US" b="1" dirty="0">
                <a:solidFill>
                  <a:srgbClr val="663300"/>
                </a:solidFill>
              </a:rPr>
              <a:t>$5,000</a:t>
            </a:r>
          </a:p>
          <a:p>
            <a:pPr>
              <a:lnSpc>
                <a:spcPct val="100000"/>
              </a:lnSpc>
            </a:pPr>
            <a:endParaRPr lang="en-US" altLang="en-US" dirty="0">
              <a:solidFill>
                <a:srgbClr val="663300"/>
              </a:solidFill>
            </a:endParaRPr>
          </a:p>
          <a:p>
            <a:pPr>
              <a:spcBef>
                <a:spcPct val="20000"/>
              </a:spcBef>
              <a:buSzPct val="90000"/>
            </a:pPr>
            <a:r>
              <a:rPr lang="en-US" altLang="en-US" dirty="0"/>
              <a:t>Total supply chain profit = $7,500 (previous slide) + $5,000 = </a:t>
            </a:r>
            <a:r>
              <a:rPr lang="en-US" altLang="en-US" b="1" dirty="0"/>
              <a:t>$12,500 </a:t>
            </a:r>
            <a:r>
              <a:rPr lang="en-US" altLang="en-US" dirty="0"/>
              <a:t>&lt; $15,000 (centralized case)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8E3EF-C80D-49E0-8052-F88DD61DA988}" type="slidenum">
              <a:rPr lang="en-US" smtClean="0"/>
              <a:t>16</a:t>
            </a:fld>
            <a:endParaRPr lang="en-US"/>
          </a:p>
        </p:txBody>
      </p:sp>
      <p:pic>
        <p:nvPicPr>
          <p:cNvPr id="5" name="Picture 2" descr="https://ag.purdue.edu/agry/intranet/logo/Purdue-Boilermakers.gif?Mobile=1&amp;Source=%2Fagry%2Fintranet%2F_layouts%2Fmobile%2Fview.aspx%3FList%3D19bbe5ea-fddc-4294-9798-d3e60aa39935%26View%3Dc82cce08-9116-42fd-a5bf-0f5554ac2df7%26CurrentPage%3D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5517" y="178449"/>
            <a:ext cx="1008215" cy="941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5985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dirty="0"/>
              <a:t>Purdue Apparel Supply Chain – Observations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8E3EF-C80D-49E0-8052-F88DD61DA988}" type="slidenum">
              <a:rPr lang="en-US" smtClean="0"/>
              <a:t>17</a:t>
            </a:fld>
            <a:endParaRPr lang="en-US"/>
          </a:p>
        </p:txBody>
      </p:sp>
      <p:graphicFrame>
        <p:nvGraphicFramePr>
          <p:cNvPr id="442477" name="Group 10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5753505"/>
              </p:ext>
            </p:extLst>
          </p:nvPr>
        </p:nvGraphicFramePr>
        <p:xfrm>
          <a:off x="1481392" y="1555271"/>
          <a:ext cx="6181215" cy="3494312"/>
        </p:xfrm>
        <a:graphic>
          <a:graphicData uri="http://schemas.openxmlformats.org/drawingml/2006/table">
            <a:tbl>
              <a:tblPr/>
              <a:tblGrid>
                <a:gridCol w="2594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0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5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678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</a:rPr>
                        <a:t>Centralized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</a:rPr>
                        <a:t>Decentralized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78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</a:rPr>
                        <a:t>Shortage Cost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</a:rPr>
                        <a:t>125 – 50 = 75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</a:rPr>
                        <a:t>125 – 75 = 50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78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</a:rPr>
                        <a:t>Excess Cost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</a:rPr>
                        <a:t>50 – 25 = 25 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</a:rPr>
                        <a:t>75 – 25 = 50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78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</a:rPr>
                        <a:t>Critical Ratio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</a:rPr>
                        <a:t>75%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</a:rPr>
                        <a:t>50%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78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</a:rPr>
                        <a:t>Order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</a:rPr>
                        <a:t>300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</a:rPr>
                        <a:t>200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78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</a:rPr>
                        <a:t>Expected sales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Symbol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</a:rPr>
                        <a:t>225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</a:rPr>
                        <a:t>175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78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</a:rPr>
                        <a:t>Expected leftover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</a:rPr>
                        <a:t>75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</a:rPr>
                        <a:t>25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78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</a:rPr>
                        <a:t>SC Expected profit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Symbol" pitchFamily="18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</a:rPr>
                        <a:t>$15,000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</a:rPr>
                        <a:t>  $12,500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Picture 2" descr="https://ag.purdue.edu/agry/intranet/logo/Purdue-Boilermakers.gif?Mobile=1&amp;Source=%2Fagry%2Fintranet%2F_layouts%2Fmobile%2Fview.aspx%3FList%3D19bbe5ea-fddc-4294-9798-d3e60aa39935%26View%3Dc82cce08-9116-42fd-a5bf-0f5554ac2df7%26CurrentPage%3D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5517" y="178449"/>
            <a:ext cx="1008215" cy="941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09161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altLang="en-US" dirty="0"/>
              <a:t>Incentive Conflicts </a:t>
            </a:r>
          </a:p>
        </p:txBody>
      </p:sp>
      <p:sp>
        <p:nvSpPr>
          <p:cNvPr id="40550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ts val="3400"/>
              </a:lnSpc>
            </a:pPr>
            <a:r>
              <a:rPr lang="en-US" altLang="en-US" dirty="0"/>
              <a:t>Suboptimal supply chain performance occurs due to </a:t>
            </a:r>
            <a:r>
              <a:rPr lang="en-US" altLang="en-US" dirty="0">
                <a:solidFill>
                  <a:srgbClr val="FF0000"/>
                </a:solidFill>
              </a:rPr>
              <a:t>double marginalization</a:t>
            </a:r>
          </a:p>
          <a:p>
            <a:pPr lvl="1">
              <a:lnSpc>
                <a:spcPts val="3400"/>
              </a:lnSpc>
            </a:pPr>
            <a:r>
              <a:rPr lang="en-US" altLang="en-US" dirty="0"/>
              <a:t>Retailer in the decentralized SC has lower shortage and higher excess cost </a:t>
            </a:r>
            <a:r>
              <a:rPr lang="en-US" altLang="en-US" dirty="0">
                <a:sym typeface="Wingdings" panose="05000000000000000000" pitchFamily="2" charset="2"/>
              </a:rPr>
              <a:t> lower critical ratio  smaller order quantity  lower service level</a:t>
            </a:r>
          </a:p>
          <a:p>
            <a:pPr lvl="1">
              <a:lnSpc>
                <a:spcPts val="3400"/>
              </a:lnSpc>
            </a:pPr>
            <a:r>
              <a:rPr lang="en-US" altLang="en-US" dirty="0">
                <a:sym typeface="Wingdings" panose="05000000000000000000" pitchFamily="2" charset="2"/>
              </a:rPr>
              <a:t>The SC’s profit (retailer and supplier combined) is lower than the highest possible</a:t>
            </a:r>
          </a:p>
          <a:p>
            <a:pPr lvl="1">
              <a:lnSpc>
                <a:spcPts val="3400"/>
              </a:lnSpc>
            </a:pPr>
            <a:endParaRPr lang="en-US" alt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8E3EF-C80D-49E0-8052-F88DD61DA988}" type="slidenum">
              <a:rPr lang="en-US" smtClean="0"/>
              <a:t>18</a:t>
            </a:fld>
            <a:endParaRPr lang="en-US"/>
          </a:p>
        </p:txBody>
      </p: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4627597"/>
              </p:ext>
            </p:extLst>
          </p:nvPr>
        </p:nvGraphicFramePr>
        <p:xfrm>
          <a:off x="4061732" y="3670539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139587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Supply Chain Coordination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Align incentives to achieve optimal SC performance</a:t>
            </a:r>
          </a:p>
          <a:p>
            <a:r>
              <a:rPr lang="en-US" dirty="0"/>
              <a:t>Key questions: </a:t>
            </a:r>
          </a:p>
          <a:p>
            <a:pPr lvl="1"/>
            <a:r>
              <a:rPr lang="en-US" dirty="0"/>
              <a:t>How to achieve the centralized profit –make the retailer order the optimal quantity for the centralized supply chain?</a:t>
            </a:r>
          </a:p>
          <a:p>
            <a:pPr lvl="1"/>
            <a:r>
              <a:rPr lang="en-US" dirty="0"/>
              <a:t>How to split the benefit and make sure everyone is willing to coordinate?</a:t>
            </a:r>
          </a:p>
          <a:p>
            <a:r>
              <a:rPr lang="en-US" b="1" dirty="0">
                <a:solidFill>
                  <a:srgbClr val="FF0000"/>
                </a:solidFill>
              </a:rPr>
              <a:t>Buy-back contract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8E3EF-C80D-49E0-8052-F88DD61DA988}" type="slidenum">
              <a:rPr lang="en-US" smtClean="0"/>
              <a:t>19</a:t>
            </a:fld>
            <a:endParaRPr lang="en-US"/>
          </a:p>
        </p:txBody>
      </p: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98309921"/>
              </p:ext>
            </p:extLst>
          </p:nvPr>
        </p:nvGraphicFramePr>
        <p:xfrm>
          <a:off x="4061732" y="3670539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57543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Supply Chain Coordination by Buy-Back Contract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dirty="0"/>
                  <a:t>Now suppose supplier and retailer can negotiate on both wholesale price W and buy-back price B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en-US" dirty="0"/>
                  <a:t>Cost for Purdue Store: wholesale price </a:t>
                </a:r>
                <a:r>
                  <a:rPr lang="en-US" altLang="en-US" b="1" dirty="0">
                    <a:solidFill>
                      <a:srgbClr val="FF0000"/>
                    </a:solidFill>
                  </a:rPr>
                  <a:t>W = ?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en-US" dirty="0"/>
                  <a:t>Selling price for Purdue Store: R = $125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en-US" dirty="0"/>
                  <a:t>Salvage value for Purdue Store: </a:t>
                </a:r>
                <a:r>
                  <a:rPr lang="en-US" altLang="en-US" b="1" dirty="0">
                    <a:solidFill>
                      <a:srgbClr val="FF0000"/>
                    </a:solidFill>
                  </a:rPr>
                  <a:t>B = ?</a:t>
                </a:r>
                <a:endParaRPr lang="en-US" altLang="zh-CN" b="1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/>
                  <a:t>How to make critical ratio equal to </a:t>
                </a:r>
                <a:r>
                  <a:rPr lang="en-US" altLang="zh-CN" dirty="0">
                    <a:highlight>
                      <a:srgbClr val="FFFF00"/>
                    </a:highlight>
                  </a:rPr>
                  <a:t>75%</a:t>
                </a:r>
                <a:r>
                  <a:rPr lang="en-US" altLang="zh-CN" dirty="0"/>
                  <a:t> of the centralized SC?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/>
                  <a:t>Choose wholesale price W and buy-back price B, such that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125</m:t>
                          </m:r>
                          <m:r>
                            <a:rPr lang="en-US" altLang="zh-CN" i="1">
                              <a:latin typeface="Cambria Math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125</m:t>
                          </m:r>
                          <m:r>
                            <a:rPr lang="en-US" altLang="zh-CN" i="1">
                              <a:latin typeface="Cambria Math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  <m:r>
                        <a:rPr lang="en-US" altLang="zh-CN" i="1">
                          <a:latin typeface="Cambria Math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75%</m:t>
                      </m:r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dirty="0"/>
                  <a:t>Example: if W = 85, how to set B?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zh-CN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r="-14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8E3EF-C80D-49E0-8052-F88DD61DA988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76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Supply Chain Coordination by Buy-Back Contract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dirty="0"/>
                  <a:t>Now suppose supplier and retailer can negotiate on both wholesale price W and buy-back price B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en-US" dirty="0"/>
                  <a:t>Cost for Purdue Store: wholesale price </a:t>
                </a:r>
                <a:r>
                  <a:rPr lang="en-US" altLang="en-US" b="1" dirty="0">
                    <a:solidFill>
                      <a:srgbClr val="FF0000"/>
                    </a:solidFill>
                  </a:rPr>
                  <a:t>W = ?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en-US" dirty="0"/>
                  <a:t>Selling price for Purdue Store: R = $125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en-US" dirty="0">
                    <a:highlight>
                      <a:srgbClr val="FFFF00"/>
                    </a:highlight>
                  </a:rPr>
                  <a:t>Salvage value </a:t>
                </a:r>
                <a:r>
                  <a:rPr lang="en-US" altLang="en-US" dirty="0"/>
                  <a:t>for Purdue Store: </a:t>
                </a:r>
                <a:r>
                  <a:rPr lang="en-US" altLang="en-US" b="1" dirty="0">
                    <a:solidFill>
                      <a:srgbClr val="FF0000"/>
                    </a:solidFill>
                  </a:rPr>
                  <a:t>B = ?</a:t>
                </a:r>
                <a:endParaRPr lang="en-US" altLang="zh-CN" b="1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/>
                  <a:t>How to make critical ratio equal to </a:t>
                </a:r>
                <a:r>
                  <a:rPr lang="en-US" altLang="zh-CN" dirty="0">
                    <a:highlight>
                      <a:srgbClr val="FFFF00"/>
                    </a:highlight>
                  </a:rPr>
                  <a:t>75%</a:t>
                </a:r>
                <a:r>
                  <a:rPr lang="en-US" altLang="zh-CN" dirty="0"/>
                  <a:t> of the centralized SC?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/>
                  <a:t>Choose wholesale price W and buy-back price B, such that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125</m:t>
                          </m:r>
                          <m:r>
                            <a:rPr lang="en-US" altLang="zh-CN" i="1">
                              <a:latin typeface="Cambria Math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125</m:t>
                          </m:r>
                          <m:r>
                            <a:rPr lang="en-US" altLang="zh-CN" i="1">
                              <a:latin typeface="Cambria Math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  <m:r>
                        <a:rPr lang="en-US" altLang="zh-CN" i="1">
                          <a:latin typeface="Cambria Math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75%</m:t>
                      </m:r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dirty="0"/>
                  <a:t>Example: if W = 85, how to set B?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125</m:t>
                          </m:r>
                          <m:r>
                            <a:rPr lang="en-US" altLang="zh-CN" i="1">
                              <a:latin typeface="Cambria Math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85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125</m:t>
                          </m:r>
                          <m:r>
                            <a:rPr lang="en-US" altLang="zh-CN" i="1">
                              <a:latin typeface="Cambria Math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  <m:r>
                        <a:rPr lang="en-US" altLang="zh-CN" i="1">
                          <a:latin typeface="Cambria Math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75%</m:t>
                      </m:r>
                      <m:r>
                        <a:rPr lang="en-US" altLang="zh-CN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=71.67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8E3EF-C80D-49E0-8052-F88DD61DA988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75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In-class Exercise: Calculate Purdue Store’s Profit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"/>
            <a:r>
              <a:rPr lang="en-US" dirty="0">
                <a:highlight>
                  <a:srgbClr val="FFFF00"/>
                </a:highlight>
              </a:rPr>
              <a:t>W = 85, B = 71.67</a:t>
            </a:r>
          </a:p>
          <a:p>
            <a:r>
              <a:rPr lang="en-US" dirty="0"/>
              <a:t>Purdue Store’s optimal order quantity? </a:t>
            </a:r>
            <a:r>
              <a:rPr lang="en-US" dirty="0">
                <a:highlight>
                  <a:srgbClr val="FFFF00"/>
                </a:highlight>
              </a:rPr>
              <a:t>Q=300</a:t>
            </a:r>
          </a:p>
          <a:p>
            <a:pPr lvl="1"/>
            <a:r>
              <a:rPr lang="en-US" dirty="0"/>
              <a:t>Recall E[sold] = 225, E[leftover] = 75</a:t>
            </a:r>
          </a:p>
          <a:p>
            <a:r>
              <a:rPr lang="en-US" dirty="0"/>
              <a:t>Revenue from 225 units expected sales:  </a:t>
            </a:r>
          </a:p>
          <a:p>
            <a:r>
              <a:rPr lang="en-US" dirty="0"/>
              <a:t>Excess cost from 75 units expected leftovers:  </a:t>
            </a:r>
          </a:p>
          <a:p>
            <a:r>
              <a:rPr lang="en-US" dirty="0">
                <a:solidFill>
                  <a:srgbClr val="FF0000"/>
                </a:solidFill>
              </a:rPr>
              <a:t>Purdue Store’s (retailor) profit =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8E3EF-C80D-49E0-8052-F88DD61DA988}" type="slidenum">
              <a:rPr lang="en-US" smtClean="0"/>
              <a:t>22</a:t>
            </a:fld>
            <a:endParaRPr lang="en-US"/>
          </a:p>
        </p:txBody>
      </p:sp>
      <p:graphicFrame>
        <p:nvGraphicFramePr>
          <p:cNvPr id="5" name="Group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8732287"/>
              </p:ext>
            </p:extLst>
          </p:nvPr>
        </p:nvGraphicFramePr>
        <p:xfrm>
          <a:off x="1515179" y="4110892"/>
          <a:ext cx="5571421" cy="1711154"/>
        </p:xfrm>
        <a:graphic>
          <a:graphicData uri="http://schemas.openxmlformats.org/drawingml/2006/table">
            <a:tbl>
              <a:tblPr/>
              <a:tblGrid>
                <a:gridCol w="18571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6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78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8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663300"/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63300"/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</a:rPr>
                        <a:t>Centralized SC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63300"/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</a:rPr>
                        <a:t>Purdue Store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63300"/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</a:rPr>
                        <a:t>Excess cost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63300"/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</a:rPr>
                        <a:t>50 – 25 = 25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63300"/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</a:rPr>
                        <a:t>85-71.67=13.33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663300"/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1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63300"/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</a:rPr>
                        <a:t>Shortage cost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63300"/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</a:rPr>
                        <a:t>125 – 50 = 75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63300"/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</a:rPr>
                        <a:t>125-85=40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663300"/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31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63300"/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</a:rPr>
                        <a:t>Critical ratio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63300"/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</a:rPr>
                        <a:t>75%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63300"/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</a:rPr>
                        <a:t>        75%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5602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In-class Exercise: Calculate College Apparel’s Profit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"/>
            <a:r>
              <a:rPr lang="en-US" dirty="0"/>
              <a:t>When W = 85, B = 71.67</a:t>
            </a:r>
          </a:p>
          <a:p>
            <a:pPr fontAlgn="b"/>
            <a:endParaRPr lang="en-US" dirty="0">
              <a:solidFill>
                <a:srgbClr val="0070C0"/>
              </a:solidFill>
            </a:endParaRPr>
          </a:p>
          <a:p>
            <a:r>
              <a:rPr lang="en-US" dirty="0"/>
              <a:t>Revenue from selling 300 units:  </a:t>
            </a:r>
          </a:p>
          <a:p>
            <a:r>
              <a:rPr lang="en-US" dirty="0"/>
              <a:t>Buy-back cost for 75 units expected leftovers:  </a:t>
            </a:r>
          </a:p>
          <a:p>
            <a:r>
              <a:rPr lang="en-US" dirty="0"/>
              <a:t>Salvage value (from College Apparel’s </a:t>
            </a:r>
            <a:r>
              <a:rPr lang="en-US" altLang="en-US" dirty="0"/>
              <a:t>liquidates</a:t>
            </a:r>
            <a:r>
              <a:rPr lang="en-US" dirty="0"/>
              <a:t>):   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College Apparel’s (supplier) profit =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8E3EF-C80D-49E0-8052-F88DD61DA98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31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B8F64-3498-0D30-DEB0-471B0C6DD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AD8EA-63B1-80D6-C759-06CDAD371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Calculate Purdue Store’s Profit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95DBB-3788-E7DB-37AC-68807FB058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268" y="1164318"/>
            <a:ext cx="8633732" cy="5328556"/>
          </a:xfrm>
        </p:spPr>
        <p:txBody>
          <a:bodyPr/>
          <a:lstStyle/>
          <a:p>
            <a:pPr fontAlgn="b"/>
            <a:r>
              <a:rPr lang="en-US" dirty="0"/>
              <a:t>W = 85, B = 71.67</a:t>
            </a:r>
          </a:p>
          <a:p>
            <a:r>
              <a:rPr lang="en-US" dirty="0"/>
              <a:t>Purdue Store’s optimal order quantity?</a:t>
            </a:r>
          </a:p>
          <a:p>
            <a:pPr lvl="1"/>
            <a:r>
              <a:rPr lang="en-US" dirty="0"/>
              <a:t>Recall E[sales] = 225, </a:t>
            </a:r>
            <a:r>
              <a:rPr lang="en-US" dirty="0">
                <a:highlight>
                  <a:srgbClr val="C0C0C0"/>
                </a:highlight>
              </a:rPr>
              <a:t>E[leftover] = 75</a:t>
            </a:r>
          </a:p>
          <a:p>
            <a:r>
              <a:rPr lang="en-US" dirty="0"/>
              <a:t>Revenue from 225 units expected sales: </a:t>
            </a:r>
            <a:r>
              <a:rPr lang="en-US" dirty="0">
                <a:solidFill>
                  <a:srgbClr val="FF0000"/>
                </a:solidFill>
              </a:rPr>
              <a:t>(R-W)*E[sales] </a:t>
            </a:r>
            <a:r>
              <a:rPr lang="en-US" dirty="0"/>
              <a:t>= (125-85)*225 = </a:t>
            </a:r>
            <a:r>
              <a:rPr lang="en-US" dirty="0">
                <a:highlight>
                  <a:srgbClr val="FFFF00"/>
                </a:highlight>
              </a:rPr>
              <a:t>9,000</a:t>
            </a:r>
          </a:p>
          <a:p>
            <a:r>
              <a:rPr lang="en-US" dirty="0"/>
              <a:t>Excess cost from 75 units expected leftovers: </a:t>
            </a:r>
            <a:r>
              <a:rPr lang="en-US" dirty="0">
                <a:solidFill>
                  <a:srgbClr val="FF0000"/>
                </a:solidFill>
              </a:rPr>
              <a:t>(W-B)*E[leftover]= </a:t>
            </a:r>
            <a:r>
              <a:rPr lang="en-US" dirty="0"/>
              <a:t>(85-71.67) * 75 = </a:t>
            </a:r>
            <a:r>
              <a:rPr lang="en-US" dirty="0">
                <a:highlight>
                  <a:srgbClr val="00FFFF"/>
                </a:highlight>
              </a:rPr>
              <a:t>1000</a:t>
            </a:r>
          </a:p>
          <a:p>
            <a:r>
              <a:rPr lang="en-US" dirty="0"/>
              <a:t>Purdue Store’s profit = 9,000 – 1000 = </a:t>
            </a:r>
            <a:r>
              <a:rPr lang="en-US" dirty="0">
                <a:highlight>
                  <a:srgbClr val="FFFF00"/>
                </a:highlight>
              </a:rPr>
              <a:t>8000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36AAF8-5135-58D9-8A58-9BFA32B45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8E3EF-C80D-49E0-8052-F88DD61DA988}" type="slidenum">
              <a:rPr lang="en-US" smtClean="0"/>
              <a:t>24</a:t>
            </a:fld>
            <a:endParaRPr lang="en-US"/>
          </a:p>
        </p:txBody>
      </p:sp>
      <p:graphicFrame>
        <p:nvGraphicFramePr>
          <p:cNvPr id="5" name="Group 31">
            <a:extLst>
              <a:ext uri="{FF2B5EF4-FFF2-40B4-BE49-F238E27FC236}">
                <a16:creationId xmlns:a16="http://schemas.microsoft.com/office/drawing/2014/main" id="{C8F91F9D-9EB6-EEA1-E67D-293AFE1E28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557693"/>
              </p:ext>
            </p:extLst>
          </p:nvPr>
        </p:nvGraphicFramePr>
        <p:xfrm>
          <a:off x="1705679" y="4691917"/>
          <a:ext cx="5571421" cy="1711154"/>
        </p:xfrm>
        <a:graphic>
          <a:graphicData uri="http://schemas.openxmlformats.org/drawingml/2006/table">
            <a:tbl>
              <a:tblPr/>
              <a:tblGrid>
                <a:gridCol w="18571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6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78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8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663300"/>
                        </a:solidFill>
                        <a:effectLst/>
                        <a:latin typeface="Book Antiqua" pitchFamily="18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63300"/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</a:rPr>
                        <a:t>Centralized SC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63300"/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</a:rPr>
                        <a:t>Purdue Store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63300"/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</a:rPr>
                        <a:t>Excess cost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63300"/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</a:rPr>
                        <a:t>50 – 25 = 25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63300"/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</a:rPr>
                        <a:t>85-71.67=13.33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1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63300"/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</a:rPr>
                        <a:t>Shortage cost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63300"/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</a:rPr>
                        <a:t>125 – 50 = 75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63300"/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</a:rPr>
                        <a:t>125-85=40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31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63300"/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</a:rPr>
                        <a:t>Critical ratio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63300"/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</a:rPr>
                        <a:t>75%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63300"/>
                          </a:solidFill>
                          <a:effectLst/>
                          <a:latin typeface="Book Antiqua" pitchFamily="18" charset="0"/>
                          <a:ea typeface="宋体" pitchFamily="2" charset="-122"/>
                        </a:rPr>
                        <a:t>        75%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6907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68A06-8E0B-B718-699C-627B0C9FE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D0644-CD14-278F-E57E-FC9101215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Calculate College Apparel’s Profit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6B9C4-279A-8C7E-673F-B746BA31D0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"/>
            <a:r>
              <a:rPr lang="en-US" dirty="0"/>
              <a:t>When W = 85, B = 71.67</a:t>
            </a:r>
          </a:p>
          <a:p>
            <a:pPr fontAlgn="b"/>
            <a:endParaRPr lang="en-US" dirty="0">
              <a:solidFill>
                <a:srgbClr val="0070C0"/>
              </a:solidFill>
            </a:endParaRPr>
          </a:p>
          <a:p>
            <a:r>
              <a:rPr lang="en-US" dirty="0"/>
              <a:t>Revenue from selling 300 units: </a:t>
            </a:r>
            <a:r>
              <a:rPr lang="en-US" dirty="0">
                <a:solidFill>
                  <a:srgbClr val="FF0000"/>
                </a:solidFill>
              </a:rPr>
              <a:t>(W-C)*Q</a:t>
            </a:r>
            <a:r>
              <a:rPr lang="en-US" dirty="0"/>
              <a:t> = (85-50)*300 = 10,500</a:t>
            </a:r>
          </a:p>
          <a:p>
            <a:r>
              <a:rPr lang="en-US" dirty="0"/>
              <a:t>Buy-back cost for 75 units expected leftovers: </a:t>
            </a:r>
            <a:r>
              <a:rPr lang="en-US" dirty="0">
                <a:solidFill>
                  <a:srgbClr val="FF0000"/>
                </a:solidFill>
              </a:rPr>
              <a:t>B*E[leftover] </a:t>
            </a:r>
            <a:r>
              <a:rPr lang="en-US" dirty="0"/>
              <a:t>= 71.67 * </a:t>
            </a:r>
            <a:r>
              <a:rPr lang="en-US" dirty="0">
                <a:highlight>
                  <a:srgbClr val="C0C0C0"/>
                </a:highlight>
              </a:rPr>
              <a:t>75</a:t>
            </a:r>
            <a:r>
              <a:rPr lang="en-US" dirty="0"/>
              <a:t> = 5,375</a:t>
            </a:r>
          </a:p>
          <a:p>
            <a:r>
              <a:rPr lang="en-US" dirty="0"/>
              <a:t>Salvage value (from College Apparel’s </a:t>
            </a:r>
            <a:r>
              <a:rPr lang="en-US" altLang="en-US" dirty="0"/>
              <a:t>liquidates</a:t>
            </a:r>
            <a:r>
              <a:rPr lang="en-US" dirty="0"/>
              <a:t>):  </a:t>
            </a:r>
            <a:r>
              <a:rPr lang="en-US" dirty="0">
                <a:solidFill>
                  <a:srgbClr val="FF0000"/>
                </a:solidFill>
              </a:rPr>
              <a:t>V*E[leftover]</a:t>
            </a:r>
            <a:r>
              <a:rPr lang="en-US" dirty="0"/>
              <a:t> = 25 * </a:t>
            </a:r>
            <a:r>
              <a:rPr lang="en-US" dirty="0">
                <a:highlight>
                  <a:srgbClr val="C0C0C0"/>
                </a:highlight>
              </a:rPr>
              <a:t>75</a:t>
            </a:r>
            <a:r>
              <a:rPr lang="en-US" dirty="0"/>
              <a:t> = 1,875</a:t>
            </a:r>
          </a:p>
          <a:p>
            <a:endParaRPr lang="en-US" dirty="0"/>
          </a:p>
          <a:p>
            <a:r>
              <a:rPr lang="en-US" dirty="0"/>
              <a:t>College Apparel’s profit = 10500 - 5375 + 1875 = </a:t>
            </a:r>
            <a:r>
              <a:rPr lang="en-US" dirty="0">
                <a:highlight>
                  <a:srgbClr val="00FFFF"/>
                </a:highlight>
              </a:rPr>
              <a:t>7000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6C1937-9417-B9D0-04C8-053A75CBF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8E3EF-C80D-49E0-8052-F88DD61DA98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3608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Supply Chain Coordination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Achieves optimal supply chain profit</a:t>
            </a:r>
          </a:p>
          <a:p>
            <a:r>
              <a:rPr lang="en-US" dirty="0"/>
              <a:t>All parties are better off</a:t>
            </a:r>
          </a:p>
          <a:p>
            <a:pPr lvl="1"/>
            <a:r>
              <a:rPr lang="en-US" dirty="0"/>
              <a:t>Supplier and retailer: higher profit, willing to participate</a:t>
            </a:r>
          </a:p>
          <a:p>
            <a:pPr lvl="1"/>
            <a:r>
              <a:rPr lang="en-US" dirty="0"/>
              <a:t>Consumers: more inventory, higher service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8E3EF-C80D-49E0-8052-F88DD61DA988}" type="slidenum">
              <a:rPr lang="en-US" smtClean="0"/>
              <a:t>26</a:t>
            </a:fld>
            <a:endParaRPr lang="en-US" dirty="0"/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3438417"/>
              </p:ext>
            </p:extLst>
          </p:nvPr>
        </p:nvGraphicFramePr>
        <p:xfrm>
          <a:off x="1535501" y="2700067"/>
          <a:ext cx="6236898" cy="36921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039569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Incentive conflict in decentralized supply chains</a:t>
            </a:r>
          </a:p>
          <a:p>
            <a:pPr lvl="1"/>
            <a:r>
              <a:rPr lang="en-US" dirty="0"/>
              <a:t>Double marginalization: each firm acts based on its own margin</a:t>
            </a:r>
          </a:p>
          <a:p>
            <a:pPr lvl="1"/>
            <a:r>
              <a:rPr lang="en-US" dirty="0"/>
              <a:t>Suboptimal supply chain performance</a:t>
            </a:r>
          </a:p>
          <a:p>
            <a:r>
              <a:rPr lang="en-US" dirty="0"/>
              <a:t>Supply chain coordination: Buy-back contract</a:t>
            </a:r>
          </a:p>
          <a:p>
            <a:pPr lvl="1"/>
            <a:r>
              <a:rPr lang="en-US" dirty="0"/>
              <a:t>Contract terms</a:t>
            </a:r>
          </a:p>
          <a:p>
            <a:pPr lvl="1"/>
            <a:r>
              <a:rPr lang="en-US" dirty="0"/>
              <a:t>How does it coordinate the SC</a:t>
            </a:r>
          </a:p>
          <a:p>
            <a:pPr lvl="1"/>
            <a:r>
              <a:rPr lang="en-US" dirty="0"/>
              <a:t>Calculate wholesale price or buy-back price</a:t>
            </a:r>
          </a:p>
          <a:p>
            <a:pPr lvl="1"/>
            <a:r>
              <a:rPr lang="en-US"/>
              <a:t>Profit calculation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8E3EF-C80D-49E0-8052-F88DD61DA988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94932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5270C-CD43-522E-EF31-9DF74852D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B0EB1-60A2-BCA5-3455-87609366B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61502F-4A33-2553-3761-C2EA0D917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8E3EF-C80D-49E0-8052-F88DD61DA988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4666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Buy-Back Contracts</a:t>
            </a:r>
          </a:p>
        </p:txBody>
      </p:sp>
      <p:sp>
        <p:nvSpPr>
          <p:cNvPr id="4177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en-US" dirty="0"/>
              <a:t>How do they improve supply chain performance?</a:t>
            </a:r>
          </a:p>
          <a:p>
            <a:pPr lvl="1">
              <a:lnSpc>
                <a:spcPct val="120000"/>
              </a:lnSpc>
            </a:pPr>
            <a:r>
              <a:rPr lang="en-US" altLang="en-US" dirty="0"/>
              <a:t>The supplier shares the risk (excess cost) of left over inventory with the retailer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/>
              <a:t>The retailer’s </a:t>
            </a:r>
            <a:r>
              <a:rPr lang="en-US" altLang="en-US" u="sng" dirty="0"/>
              <a:t>excess cost is reduced</a:t>
            </a:r>
            <a:r>
              <a:rPr lang="en-US" altLang="en-US" dirty="0"/>
              <a:t>, so the retailer is willing to stock more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dirty="0"/>
              <a:t>What are the costs of buy-back contracts?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/>
              <a:t>Administrative costs plus additional shipping and handling costs.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dirty="0"/>
              <a:t>Where are they used?</a:t>
            </a:r>
          </a:p>
          <a:p>
            <a:pPr lvl="1">
              <a:lnSpc>
                <a:spcPct val="120000"/>
              </a:lnSpc>
            </a:pPr>
            <a:r>
              <a:rPr lang="en-US" altLang="en-US" dirty="0"/>
              <a:t>books, cosmetics, music CDs, agricultural chemicals, electronic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8E3EF-C80D-49E0-8052-F88DD61DA98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77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6" name="Text Box 6"/>
          <p:cNvSpPr txBox="1">
            <a:spLocks noChangeArrowheads="1"/>
          </p:cNvSpPr>
          <p:nvPr/>
        </p:nvSpPr>
        <p:spPr bwMode="auto">
          <a:xfrm>
            <a:off x="466724" y="2055532"/>
            <a:ext cx="818832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b="1" dirty="0">
                <a:latin typeface="Book Antiqua" panose="02040602050305030304" pitchFamily="18" charset="0"/>
              </a:rPr>
              <a:t>Demand/order variation gets </a:t>
            </a:r>
            <a:r>
              <a:rPr lang="en-US" b="1" dirty="0">
                <a:solidFill>
                  <a:srgbClr val="FF0000"/>
                </a:solidFill>
                <a:latin typeface="Book Antiqua" panose="02040602050305030304" pitchFamily="18" charset="0"/>
              </a:rPr>
              <a:t>amplified </a:t>
            </a:r>
            <a:r>
              <a:rPr lang="en-US" b="1" dirty="0">
                <a:latin typeface="Book Antiqua" panose="02040602050305030304" pitchFamily="18" charset="0"/>
              </a:rPr>
              <a:t>as one goes </a:t>
            </a:r>
            <a:r>
              <a:rPr lang="en-US" b="1" dirty="0">
                <a:solidFill>
                  <a:srgbClr val="FF0000"/>
                </a:solidFill>
                <a:latin typeface="Book Antiqua" panose="02040602050305030304" pitchFamily="18" charset="0"/>
              </a:rPr>
              <a:t>upstream</a:t>
            </a:r>
            <a:r>
              <a:rPr lang="en-US" b="1" dirty="0">
                <a:latin typeface="Book Antiqua" panose="02040602050305030304" pitchFamily="18" charset="0"/>
              </a:rPr>
              <a:t> in the supply chain</a:t>
            </a:r>
          </a:p>
        </p:txBody>
      </p:sp>
      <p:grpSp>
        <p:nvGrpSpPr>
          <p:cNvPr id="2" name="Group 39"/>
          <p:cNvGrpSpPr>
            <a:grpSpLocks/>
          </p:cNvGrpSpPr>
          <p:nvPr/>
        </p:nvGrpSpPr>
        <p:grpSpPr bwMode="auto">
          <a:xfrm>
            <a:off x="990600" y="3124200"/>
            <a:ext cx="7194550" cy="2225675"/>
            <a:chOff x="1111250" y="3886200"/>
            <a:chExt cx="7194551" cy="2226376"/>
          </a:xfrm>
        </p:grpSpPr>
        <p:grpSp>
          <p:nvGrpSpPr>
            <p:cNvPr id="3" name="Group 37"/>
            <p:cNvGrpSpPr>
              <a:grpSpLocks/>
            </p:cNvGrpSpPr>
            <p:nvPr/>
          </p:nvGrpSpPr>
          <p:grpSpPr bwMode="auto">
            <a:xfrm>
              <a:off x="1111250" y="3886200"/>
              <a:ext cx="7194551" cy="2226376"/>
              <a:chOff x="1943100" y="4419600"/>
              <a:chExt cx="7194551" cy="2226376"/>
            </a:xfrm>
          </p:grpSpPr>
          <p:sp>
            <p:nvSpPr>
              <p:cNvPr id="10" name="Rectangle 4"/>
              <p:cNvSpPr>
                <a:spLocks noChangeArrowheads="1"/>
              </p:cNvSpPr>
              <p:nvPr/>
            </p:nvSpPr>
            <p:spPr bwMode="auto">
              <a:xfrm flipH="1">
                <a:off x="7743826" y="4996045"/>
                <a:ext cx="1176338" cy="115288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1" name="Rectangle 5"/>
              <p:cNvSpPr>
                <a:spLocks noChangeArrowheads="1"/>
              </p:cNvSpPr>
              <p:nvPr/>
            </p:nvSpPr>
            <p:spPr bwMode="auto">
              <a:xfrm flipH="1">
                <a:off x="6315076" y="5008749"/>
                <a:ext cx="1177925" cy="115288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2" name="Rectangle 6"/>
              <p:cNvSpPr>
                <a:spLocks noChangeArrowheads="1"/>
              </p:cNvSpPr>
              <p:nvPr/>
            </p:nvSpPr>
            <p:spPr bwMode="auto">
              <a:xfrm flipH="1">
                <a:off x="4924425" y="5008749"/>
                <a:ext cx="1177925" cy="115288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3" name="Rectangle 7"/>
              <p:cNvSpPr>
                <a:spLocks noChangeArrowheads="1"/>
              </p:cNvSpPr>
              <p:nvPr/>
            </p:nvSpPr>
            <p:spPr bwMode="auto">
              <a:xfrm flipH="1">
                <a:off x="3471863" y="5008749"/>
                <a:ext cx="1177925" cy="115288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4" name="Rectangle 8"/>
              <p:cNvSpPr>
                <a:spLocks noChangeArrowheads="1"/>
              </p:cNvSpPr>
              <p:nvPr/>
            </p:nvSpPr>
            <p:spPr bwMode="auto">
              <a:xfrm flipH="1">
                <a:off x="1943100" y="5008749"/>
                <a:ext cx="1177925" cy="115288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0493" name="Rectangle 10"/>
              <p:cNvSpPr>
                <a:spLocks noChangeArrowheads="1"/>
              </p:cNvSpPr>
              <p:nvPr/>
            </p:nvSpPr>
            <p:spPr bwMode="auto">
              <a:xfrm flipH="1">
                <a:off x="7689851" y="6248976"/>
                <a:ext cx="1447800" cy="3970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90488" tIns="46038" rIns="90488" bIns="46038">
                <a:spAutoFit/>
              </a:bodyPr>
              <a:lstStyle/>
              <a:p>
                <a:pPr defTabSz="889000" eaLnBrk="0" hangingPunct="0"/>
                <a:r>
                  <a:rPr lang="en-US" sz="2000">
                    <a:latin typeface="Arial" charset="0"/>
                    <a:cs typeface="Arial" charset="0"/>
                  </a:rPr>
                  <a:t>Consumer</a:t>
                </a:r>
              </a:p>
            </p:txBody>
          </p:sp>
          <p:sp>
            <p:nvSpPr>
              <p:cNvPr id="20494" name="Rectangle 11"/>
              <p:cNvSpPr>
                <a:spLocks noChangeArrowheads="1"/>
              </p:cNvSpPr>
              <p:nvPr/>
            </p:nvSpPr>
            <p:spPr bwMode="auto">
              <a:xfrm flipH="1">
                <a:off x="6373812" y="6248400"/>
                <a:ext cx="1057275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0488" tIns="46038" rIns="90488" bIns="46038">
                <a:spAutoFit/>
              </a:bodyPr>
              <a:lstStyle/>
              <a:p>
                <a:pPr defTabSz="889000" eaLnBrk="0" hangingPunct="0"/>
                <a:r>
                  <a:rPr lang="en-US" sz="2000">
                    <a:latin typeface="Arial" charset="0"/>
                    <a:cs typeface="Arial" charset="0"/>
                  </a:rPr>
                  <a:t>Retailer</a:t>
                </a:r>
              </a:p>
            </p:txBody>
          </p:sp>
          <p:sp>
            <p:nvSpPr>
              <p:cNvPr id="20495" name="Rectangle 12"/>
              <p:cNvSpPr>
                <a:spLocks noChangeArrowheads="1"/>
              </p:cNvSpPr>
              <p:nvPr/>
            </p:nvSpPr>
            <p:spPr bwMode="auto">
              <a:xfrm flipH="1">
                <a:off x="3422650" y="6248400"/>
                <a:ext cx="1338262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0488" tIns="46038" rIns="90488" bIns="46038">
                <a:spAutoFit/>
              </a:bodyPr>
              <a:lstStyle/>
              <a:p>
                <a:pPr defTabSz="889000" eaLnBrk="0" hangingPunct="0"/>
                <a:r>
                  <a:rPr lang="en-US" sz="2000">
                    <a:latin typeface="Arial" charset="0"/>
                    <a:cs typeface="Arial" charset="0"/>
                  </a:rPr>
                  <a:t>Distributor</a:t>
                </a:r>
              </a:p>
            </p:txBody>
          </p:sp>
          <p:sp>
            <p:nvSpPr>
              <p:cNvPr id="20496" name="Rectangle 14"/>
              <p:cNvSpPr>
                <a:spLocks noChangeArrowheads="1"/>
              </p:cNvSpPr>
              <p:nvPr/>
            </p:nvSpPr>
            <p:spPr bwMode="auto">
              <a:xfrm flipH="1">
                <a:off x="1974850" y="6248976"/>
                <a:ext cx="1112838" cy="3970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0488" tIns="46038" rIns="90488" bIns="46038">
                <a:spAutoFit/>
              </a:bodyPr>
              <a:lstStyle/>
              <a:p>
                <a:pPr defTabSz="889000" eaLnBrk="0" hangingPunct="0"/>
                <a:r>
                  <a:rPr lang="en-US" sz="2000">
                    <a:latin typeface="Arial" charset="0"/>
                    <a:cs typeface="Arial" charset="0"/>
                  </a:rPr>
                  <a:t>Brewery</a:t>
                </a:r>
              </a:p>
            </p:txBody>
          </p:sp>
          <p:sp>
            <p:nvSpPr>
              <p:cNvPr id="21" name="Freeform 15"/>
              <p:cNvSpPr>
                <a:spLocks/>
              </p:cNvSpPr>
              <p:nvPr/>
            </p:nvSpPr>
            <p:spPr bwMode="auto">
              <a:xfrm flipH="1">
                <a:off x="2073275" y="5340640"/>
                <a:ext cx="966788" cy="665373"/>
              </a:xfrm>
              <a:custGeom>
                <a:avLst/>
                <a:gdLst/>
                <a:ahLst/>
                <a:cxnLst>
                  <a:cxn ang="0">
                    <a:pos x="0" y="313"/>
                  </a:cxn>
                  <a:cxn ang="0">
                    <a:pos x="9" y="290"/>
                  </a:cxn>
                  <a:cxn ang="0">
                    <a:pos x="18" y="269"/>
                  </a:cxn>
                  <a:cxn ang="0">
                    <a:pos x="38" y="246"/>
                  </a:cxn>
                  <a:cxn ang="0">
                    <a:pos x="47" y="223"/>
                  </a:cxn>
                  <a:cxn ang="0">
                    <a:pos x="57" y="194"/>
                  </a:cxn>
                  <a:cxn ang="0">
                    <a:pos x="66" y="171"/>
                  </a:cxn>
                  <a:cxn ang="0">
                    <a:pos x="76" y="141"/>
                  </a:cxn>
                  <a:cxn ang="0">
                    <a:pos x="76" y="127"/>
                  </a:cxn>
                  <a:cxn ang="0">
                    <a:pos x="85" y="112"/>
                  </a:cxn>
                  <a:cxn ang="0">
                    <a:pos x="94" y="89"/>
                  </a:cxn>
                  <a:cxn ang="0">
                    <a:pos x="104" y="74"/>
                  </a:cxn>
                  <a:cxn ang="0">
                    <a:pos x="114" y="60"/>
                  </a:cxn>
                  <a:cxn ang="0">
                    <a:pos x="123" y="37"/>
                  </a:cxn>
                  <a:cxn ang="0">
                    <a:pos x="142" y="22"/>
                  </a:cxn>
                  <a:cxn ang="0">
                    <a:pos x="161" y="7"/>
                  </a:cxn>
                  <a:cxn ang="0">
                    <a:pos x="180" y="0"/>
                  </a:cxn>
                  <a:cxn ang="0">
                    <a:pos x="199" y="0"/>
                  </a:cxn>
                  <a:cxn ang="0">
                    <a:pos x="218" y="7"/>
                  </a:cxn>
                  <a:cxn ang="0">
                    <a:pos x="228" y="22"/>
                  </a:cxn>
                  <a:cxn ang="0">
                    <a:pos x="237" y="44"/>
                  </a:cxn>
                  <a:cxn ang="0">
                    <a:pos x="246" y="60"/>
                  </a:cxn>
                  <a:cxn ang="0">
                    <a:pos x="256" y="74"/>
                  </a:cxn>
                  <a:cxn ang="0">
                    <a:pos x="266" y="89"/>
                  </a:cxn>
                  <a:cxn ang="0">
                    <a:pos x="266" y="112"/>
                  </a:cxn>
                  <a:cxn ang="0">
                    <a:pos x="275" y="127"/>
                  </a:cxn>
                  <a:cxn ang="0">
                    <a:pos x="285" y="141"/>
                  </a:cxn>
                  <a:cxn ang="0">
                    <a:pos x="285" y="156"/>
                  </a:cxn>
                  <a:cxn ang="0">
                    <a:pos x="294" y="171"/>
                  </a:cxn>
                  <a:cxn ang="0">
                    <a:pos x="294" y="186"/>
                  </a:cxn>
                  <a:cxn ang="0">
                    <a:pos x="304" y="201"/>
                  </a:cxn>
                  <a:cxn ang="0">
                    <a:pos x="313" y="216"/>
                  </a:cxn>
                  <a:cxn ang="0">
                    <a:pos x="313" y="231"/>
                  </a:cxn>
                  <a:cxn ang="0">
                    <a:pos x="322" y="246"/>
                  </a:cxn>
                  <a:cxn ang="0">
                    <a:pos x="332" y="261"/>
                  </a:cxn>
                  <a:cxn ang="0">
                    <a:pos x="342" y="276"/>
                  </a:cxn>
                  <a:cxn ang="0">
                    <a:pos x="351" y="290"/>
                  </a:cxn>
                  <a:cxn ang="0">
                    <a:pos x="351" y="305"/>
                  </a:cxn>
                  <a:cxn ang="0">
                    <a:pos x="370" y="313"/>
                  </a:cxn>
                  <a:cxn ang="0">
                    <a:pos x="380" y="336"/>
                  </a:cxn>
                  <a:cxn ang="0">
                    <a:pos x="398" y="350"/>
                  </a:cxn>
                  <a:cxn ang="0">
                    <a:pos x="408" y="365"/>
                  </a:cxn>
                  <a:cxn ang="0">
                    <a:pos x="427" y="388"/>
                  </a:cxn>
                  <a:cxn ang="0">
                    <a:pos x="446" y="403"/>
                  </a:cxn>
                  <a:cxn ang="0">
                    <a:pos x="465" y="410"/>
                  </a:cxn>
                  <a:cxn ang="0">
                    <a:pos x="484" y="418"/>
                  </a:cxn>
                  <a:cxn ang="0">
                    <a:pos x="503" y="410"/>
                  </a:cxn>
                  <a:cxn ang="0">
                    <a:pos x="522" y="403"/>
                  </a:cxn>
                  <a:cxn ang="0">
                    <a:pos x="532" y="388"/>
                  </a:cxn>
                  <a:cxn ang="0">
                    <a:pos x="541" y="373"/>
                  </a:cxn>
                  <a:cxn ang="0">
                    <a:pos x="550" y="357"/>
                  </a:cxn>
                  <a:cxn ang="0">
                    <a:pos x="570" y="343"/>
                  </a:cxn>
                  <a:cxn ang="0">
                    <a:pos x="579" y="328"/>
                  </a:cxn>
                  <a:cxn ang="0">
                    <a:pos x="589" y="313"/>
                  </a:cxn>
                  <a:cxn ang="0">
                    <a:pos x="598" y="298"/>
                  </a:cxn>
                  <a:cxn ang="0">
                    <a:pos x="598" y="283"/>
                  </a:cxn>
                  <a:cxn ang="0">
                    <a:pos x="608" y="269"/>
                  </a:cxn>
                </a:cxnLst>
                <a:rect l="0" t="0" r="r" b="b"/>
                <a:pathLst>
                  <a:path w="609" h="419">
                    <a:moveTo>
                      <a:pt x="0" y="313"/>
                    </a:moveTo>
                    <a:lnTo>
                      <a:pt x="9" y="290"/>
                    </a:lnTo>
                    <a:lnTo>
                      <a:pt x="18" y="269"/>
                    </a:lnTo>
                    <a:lnTo>
                      <a:pt x="38" y="246"/>
                    </a:lnTo>
                    <a:lnTo>
                      <a:pt x="47" y="223"/>
                    </a:lnTo>
                    <a:lnTo>
                      <a:pt x="57" y="194"/>
                    </a:lnTo>
                    <a:lnTo>
                      <a:pt x="66" y="171"/>
                    </a:lnTo>
                    <a:lnTo>
                      <a:pt x="76" y="141"/>
                    </a:lnTo>
                    <a:lnTo>
                      <a:pt x="76" y="127"/>
                    </a:lnTo>
                    <a:lnTo>
                      <a:pt x="85" y="112"/>
                    </a:lnTo>
                    <a:lnTo>
                      <a:pt x="94" y="89"/>
                    </a:lnTo>
                    <a:lnTo>
                      <a:pt x="104" y="74"/>
                    </a:lnTo>
                    <a:lnTo>
                      <a:pt x="114" y="60"/>
                    </a:lnTo>
                    <a:lnTo>
                      <a:pt x="123" y="37"/>
                    </a:lnTo>
                    <a:lnTo>
                      <a:pt x="142" y="22"/>
                    </a:lnTo>
                    <a:lnTo>
                      <a:pt x="161" y="7"/>
                    </a:lnTo>
                    <a:lnTo>
                      <a:pt x="180" y="0"/>
                    </a:lnTo>
                    <a:lnTo>
                      <a:pt x="199" y="0"/>
                    </a:lnTo>
                    <a:lnTo>
                      <a:pt x="218" y="7"/>
                    </a:lnTo>
                    <a:lnTo>
                      <a:pt x="228" y="22"/>
                    </a:lnTo>
                    <a:lnTo>
                      <a:pt x="237" y="44"/>
                    </a:lnTo>
                    <a:lnTo>
                      <a:pt x="246" y="60"/>
                    </a:lnTo>
                    <a:lnTo>
                      <a:pt x="256" y="74"/>
                    </a:lnTo>
                    <a:lnTo>
                      <a:pt x="266" y="89"/>
                    </a:lnTo>
                    <a:lnTo>
                      <a:pt x="266" y="112"/>
                    </a:lnTo>
                    <a:lnTo>
                      <a:pt x="275" y="127"/>
                    </a:lnTo>
                    <a:lnTo>
                      <a:pt x="285" y="141"/>
                    </a:lnTo>
                    <a:lnTo>
                      <a:pt x="285" y="156"/>
                    </a:lnTo>
                    <a:lnTo>
                      <a:pt x="294" y="171"/>
                    </a:lnTo>
                    <a:lnTo>
                      <a:pt x="294" y="186"/>
                    </a:lnTo>
                    <a:lnTo>
                      <a:pt x="304" y="201"/>
                    </a:lnTo>
                    <a:lnTo>
                      <a:pt x="313" y="216"/>
                    </a:lnTo>
                    <a:lnTo>
                      <a:pt x="313" y="231"/>
                    </a:lnTo>
                    <a:lnTo>
                      <a:pt x="322" y="246"/>
                    </a:lnTo>
                    <a:lnTo>
                      <a:pt x="332" y="261"/>
                    </a:lnTo>
                    <a:lnTo>
                      <a:pt x="342" y="276"/>
                    </a:lnTo>
                    <a:lnTo>
                      <a:pt x="351" y="290"/>
                    </a:lnTo>
                    <a:lnTo>
                      <a:pt x="351" y="305"/>
                    </a:lnTo>
                    <a:lnTo>
                      <a:pt x="370" y="313"/>
                    </a:lnTo>
                    <a:lnTo>
                      <a:pt x="380" y="336"/>
                    </a:lnTo>
                    <a:lnTo>
                      <a:pt x="398" y="350"/>
                    </a:lnTo>
                    <a:lnTo>
                      <a:pt x="408" y="365"/>
                    </a:lnTo>
                    <a:lnTo>
                      <a:pt x="427" y="388"/>
                    </a:lnTo>
                    <a:lnTo>
                      <a:pt x="446" y="403"/>
                    </a:lnTo>
                    <a:lnTo>
                      <a:pt x="465" y="410"/>
                    </a:lnTo>
                    <a:lnTo>
                      <a:pt x="484" y="418"/>
                    </a:lnTo>
                    <a:lnTo>
                      <a:pt x="503" y="410"/>
                    </a:lnTo>
                    <a:lnTo>
                      <a:pt x="522" y="403"/>
                    </a:lnTo>
                    <a:lnTo>
                      <a:pt x="532" y="388"/>
                    </a:lnTo>
                    <a:lnTo>
                      <a:pt x="541" y="373"/>
                    </a:lnTo>
                    <a:lnTo>
                      <a:pt x="550" y="357"/>
                    </a:lnTo>
                    <a:lnTo>
                      <a:pt x="570" y="343"/>
                    </a:lnTo>
                    <a:lnTo>
                      <a:pt x="579" y="328"/>
                    </a:lnTo>
                    <a:lnTo>
                      <a:pt x="589" y="313"/>
                    </a:lnTo>
                    <a:lnTo>
                      <a:pt x="598" y="298"/>
                    </a:lnTo>
                    <a:lnTo>
                      <a:pt x="598" y="283"/>
                    </a:lnTo>
                    <a:lnTo>
                      <a:pt x="608" y="269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3" name="Freeform 17"/>
              <p:cNvSpPr>
                <a:spLocks/>
              </p:cNvSpPr>
              <p:nvPr/>
            </p:nvSpPr>
            <p:spPr bwMode="auto">
              <a:xfrm flipH="1">
                <a:off x="3627438" y="5389869"/>
                <a:ext cx="877887" cy="466872"/>
              </a:xfrm>
              <a:custGeom>
                <a:avLst/>
                <a:gdLst/>
                <a:ahLst/>
                <a:cxnLst>
                  <a:cxn ang="0">
                    <a:pos x="0" y="232"/>
                  </a:cxn>
                  <a:cxn ang="0">
                    <a:pos x="15" y="223"/>
                  </a:cxn>
                  <a:cxn ang="0">
                    <a:pos x="31" y="215"/>
                  </a:cxn>
                  <a:cxn ang="0">
                    <a:pos x="39" y="197"/>
                  </a:cxn>
                  <a:cxn ang="0">
                    <a:pos x="55" y="190"/>
                  </a:cxn>
                  <a:cxn ang="0">
                    <a:pos x="63" y="172"/>
                  </a:cxn>
                  <a:cxn ang="0">
                    <a:pos x="70" y="155"/>
                  </a:cxn>
                  <a:cxn ang="0">
                    <a:pos x="86" y="146"/>
                  </a:cxn>
                  <a:cxn ang="0">
                    <a:pos x="94" y="129"/>
                  </a:cxn>
                  <a:cxn ang="0">
                    <a:pos x="102" y="111"/>
                  </a:cxn>
                  <a:cxn ang="0">
                    <a:pos x="118" y="102"/>
                  </a:cxn>
                  <a:cxn ang="0">
                    <a:pos x="126" y="86"/>
                  </a:cxn>
                  <a:cxn ang="0">
                    <a:pos x="141" y="69"/>
                  </a:cxn>
                  <a:cxn ang="0">
                    <a:pos x="149" y="51"/>
                  </a:cxn>
                  <a:cxn ang="0">
                    <a:pos x="165" y="43"/>
                  </a:cxn>
                  <a:cxn ang="0">
                    <a:pos x="173" y="25"/>
                  </a:cxn>
                  <a:cxn ang="0">
                    <a:pos x="189" y="16"/>
                  </a:cxn>
                  <a:cxn ang="0">
                    <a:pos x="205" y="8"/>
                  </a:cxn>
                  <a:cxn ang="0">
                    <a:pos x="220" y="0"/>
                  </a:cxn>
                  <a:cxn ang="0">
                    <a:pos x="236" y="0"/>
                  </a:cxn>
                  <a:cxn ang="0">
                    <a:pos x="252" y="0"/>
                  </a:cxn>
                  <a:cxn ang="0">
                    <a:pos x="260" y="16"/>
                  </a:cxn>
                  <a:cxn ang="0">
                    <a:pos x="268" y="34"/>
                  </a:cxn>
                  <a:cxn ang="0">
                    <a:pos x="283" y="43"/>
                  </a:cxn>
                  <a:cxn ang="0">
                    <a:pos x="283" y="60"/>
                  </a:cxn>
                  <a:cxn ang="0">
                    <a:pos x="291" y="77"/>
                  </a:cxn>
                  <a:cxn ang="0">
                    <a:pos x="299" y="95"/>
                  </a:cxn>
                  <a:cxn ang="0">
                    <a:pos x="299" y="111"/>
                  </a:cxn>
                  <a:cxn ang="0">
                    <a:pos x="307" y="129"/>
                  </a:cxn>
                  <a:cxn ang="0">
                    <a:pos x="315" y="146"/>
                  </a:cxn>
                  <a:cxn ang="0">
                    <a:pos x="323" y="163"/>
                  </a:cxn>
                  <a:cxn ang="0">
                    <a:pos x="339" y="181"/>
                  </a:cxn>
                  <a:cxn ang="0">
                    <a:pos x="339" y="197"/>
                  </a:cxn>
                  <a:cxn ang="0">
                    <a:pos x="354" y="206"/>
                  </a:cxn>
                  <a:cxn ang="0">
                    <a:pos x="362" y="223"/>
                  </a:cxn>
                  <a:cxn ang="0">
                    <a:pos x="370" y="241"/>
                  </a:cxn>
                  <a:cxn ang="0">
                    <a:pos x="386" y="249"/>
                  </a:cxn>
                  <a:cxn ang="0">
                    <a:pos x="394" y="267"/>
                  </a:cxn>
                  <a:cxn ang="0">
                    <a:pos x="410" y="276"/>
                  </a:cxn>
                  <a:cxn ang="0">
                    <a:pos x="425" y="284"/>
                  </a:cxn>
                  <a:cxn ang="0">
                    <a:pos x="441" y="293"/>
                  </a:cxn>
                  <a:cxn ang="0">
                    <a:pos x="457" y="293"/>
                  </a:cxn>
                  <a:cxn ang="0">
                    <a:pos x="473" y="293"/>
                  </a:cxn>
                  <a:cxn ang="0">
                    <a:pos x="488" y="284"/>
                  </a:cxn>
                  <a:cxn ang="0">
                    <a:pos x="504" y="267"/>
                  </a:cxn>
                  <a:cxn ang="0">
                    <a:pos x="520" y="258"/>
                  </a:cxn>
                  <a:cxn ang="0">
                    <a:pos x="528" y="241"/>
                  </a:cxn>
                  <a:cxn ang="0">
                    <a:pos x="544" y="223"/>
                  </a:cxn>
                  <a:cxn ang="0">
                    <a:pos x="552" y="206"/>
                  </a:cxn>
                </a:cxnLst>
                <a:rect l="0" t="0" r="r" b="b"/>
                <a:pathLst>
                  <a:path w="553" h="294">
                    <a:moveTo>
                      <a:pt x="0" y="232"/>
                    </a:moveTo>
                    <a:lnTo>
                      <a:pt x="15" y="223"/>
                    </a:lnTo>
                    <a:lnTo>
                      <a:pt x="31" y="215"/>
                    </a:lnTo>
                    <a:lnTo>
                      <a:pt x="39" y="197"/>
                    </a:lnTo>
                    <a:lnTo>
                      <a:pt x="55" y="190"/>
                    </a:lnTo>
                    <a:lnTo>
                      <a:pt x="63" y="172"/>
                    </a:lnTo>
                    <a:lnTo>
                      <a:pt x="70" y="155"/>
                    </a:lnTo>
                    <a:lnTo>
                      <a:pt x="86" y="146"/>
                    </a:lnTo>
                    <a:lnTo>
                      <a:pt x="94" y="129"/>
                    </a:lnTo>
                    <a:lnTo>
                      <a:pt x="102" y="111"/>
                    </a:lnTo>
                    <a:lnTo>
                      <a:pt x="118" y="102"/>
                    </a:lnTo>
                    <a:lnTo>
                      <a:pt x="126" y="86"/>
                    </a:lnTo>
                    <a:lnTo>
                      <a:pt x="141" y="69"/>
                    </a:lnTo>
                    <a:lnTo>
                      <a:pt x="149" y="51"/>
                    </a:lnTo>
                    <a:lnTo>
                      <a:pt x="165" y="43"/>
                    </a:lnTo>
                    <a:lnTo>
                      <a:pt x="173" y="25"/>
                    </a:lnTo>
                    <a:lnTo>
                      <a:pt x="189" y="16"/>
                    </a:lnTo>
                    <a:lnTo>
                      <a:pt x="205" y="8"/>
                    </a:lnTo>
                    <a:lnTo>
                      <a:pt x="220" y="0"/>
                    </a:lnTo>
                    <a:lnTo>
                      <a:pt x="236" y="0"/>
                    </a:lnTo>
                    <a:lnTo>
                      <a:pt x="252" y="0"/>
                    </a:lnTo>
                    <a:lnTo>
                      <a:pt x="260" y="16"/>
                    </a:lnTo>
                    <a:lnTo>
                      <a:pt x="268" y="34"/>
                    </a:lnTo>
                    <a:lnTo>
                      <a:pt x="283" y="43"/>
                    </a:lnTo>
                    <a:lnTo>
                      <a:pt x="283" y="60"/>
                    </a:lnTo>
                    <a:lnTo>
                      <a:pt x="291" y="77"/>
                    </a:lnTo>
                    <a:lnTo>
                      <a:pt x="299" y="95"/>
                    </a:lnTo>
                    <a:lnTo>
                      <a:pt x="299" y="111"/>
                    </a:lnTo>
                    <a:lnTo>
                      <a:pt x="307" y="129"/>
                    </a:lnTo>
                    <a:lnTo>
                      <a:pt x="315" y="146"/>
                    </a:lnTo>
                    <a:lnTo>
                      <a:pt x="323" y="163"/>
                    </a:lnTo>
                    <a:lnTo>
                      <a:pt x="339" y="181"/>
                    </a:lnTo>
                    <a:lnTo>
                      <a:pt x="339" y="197"/>
                    </a:lnTo>
                    <a:lnTo>
                      <a:pt x="354" y="206"/>
                    </a:lnTo>
                    <a:lnTo>
                      <a:pt x="362" y="223"/>
                    </a:lnTo>
                    <a:lnTo>
                      <a:pt x="370" y="241"/>
                    </a:lnTo>
                    <a:lnTo>
                      <a:pt x="386" y="249"/>
                    </a:lnTo>
                    <a:lnTo>
                      <a:pt x="394" y="267"/>
                    </a:lnTo>
                    <a:lnTo>
                      <a:pt x="410" y="276"/>
                    </a:lnTo>
                    <a:lnTo>
                      <a:pt x="425" y="284"/>
                    </a:lnTo>
                    <a:lnTo>
                      <a:pt x="441" y="293"/>
                    </a:lnTo>
                    <a:lnTo>
                      <a:pt x="457" y="293"/>
                    </a:lnTo>
                    <a:lnTo>
                      <a:pt x="473" y="293"/>
                    </a:lnTo>
                    <a:lnTo>
                      <a:pt x="488" y="284"/>
                    </a:lnTo>
                    <a:lnTo>
                      <a:pt x="504" y="267"/>
                    </a:lnTo>
                    <a:lnTo>
                      <a:pt x="520" y="258"/>
                    </a:lnTo>
                    <a:lnTo>
                      <a:pt x="528" y="241"/>
                    </a:lnTo>
                    <a:lnTo>
                      <a:pt x="544" y="223"/>
                    </a:lnTo>
                    <a:lnTo>
                      <a:pt x="552" y="206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4" name="Freeform 18"/>
              <p:cNvSpPr>
                <a:spLocks/>
              </p:cNvSpPr>
              <p:nvPr/>
            </p:nvSpPr>
            <p:spPr bwMode="auto">
              <a:xfrm flipH="1">
                <a:off x="5192713" y="5491501"/>
                <a:ext cx="803275" cy="301720"/>
              </a:xfrm>
              <a:custGeom>
                <a:avLst/>
                <a:gdLst/>
                <a:ahLst/>
                <a:cxnLst>
                  <a:cxn ang="0">
                    <a:pos x="0" y="141"/>
                  </a:cxn>
                  <a:cxn ang="0">
                    <a:pos x="15" y="133"/>
                  </a:cxn>
                  <a:cxn ang="0">
                    <a:pos x="23" y="118"/>
                  </a:cxn>
                  <a:cxn ang="0">
                    <a:pos x="39" y="110"/>
                  </a:cxn>
                  <a:cxn ang="0">
                    <a:pos x="47" y="94"/>
                  </a:cxn>
                  <a:cxn ang="0">
                    <a:pos x="55" y="78"/>
                  </a:cxn>
                  <a:cxn ang="0">
                    <a:pos x="71" y="70"/>
                  </a:cxn>
                  <a:cxn ang="0">
                    <a:pos x="78" y="55"/>
                  </a:cxn>
                  <a:cxn ang="0">
                    <a:pos x="94" y="47"/>
                  </a:cxn>
                  <a:cxn ang="0">
                    <a:pos x="110" y="39"/>
                  </a:cxn>
                  <a:cxn ang="0">
                    <a:pos x="118" y="23"/>
                  </a:cxn>
                  <a:cxn ang="0">
                    <a:pos x="134" y="15"/>
                  </a:cxn>
                  <a:cxn ang="0">
                    <a:pos x="149" y="7"/>
                  </a:cxn>
                  <a:cxn ang="0">
                    <a:pos x="165" y="0"/>
                  </a:cxn>
                  <a:cxn ang="0">
                    <a:pos x="181" y="0"/>
                  </a:cxn>
                  <a:cxn ang="0">
                    <a:pos x="197" y="15"/>
                  </a:cxn>
                  <a:cxn ang="0">
                    <a:pos x="213" y="31"/>
                  </a:cxn>
                  <a:cxn ang="0">
                    <a:pos x="228" y="47"/>
                  </a:cxn>
                  <a:cxn ang="0">
                    <a:pos x="236" y="63"/>
                  </a:cxn>
                  <a:cxn ang="0">
                    <a:pos x="252" y="70"/>
                  </a:cxn>
                  <a:cxn ang="0">
                    <a:pos x="260" y="86"/>
                  </a:cxn>
                  <a:cxn ang="0">
                    <a:pos x="268" y="102"/>
                  </a:cxn>
                  <a:cxn ang="0">
                    <a:pos x="284" y="118"/>
                  </a:cxn>
                  <a:cxn ang="0">
                    <a:pos x="299" y="133"/>
                  </a:cxn>
                  <a:cxn ang="0">
                    <a:pos x="315" y="149"/>
                  </a:cxn>
                  <a:cxn ang="0">
                    <a:pos x="331" y="157"/>
                  </a:cxn>
                  <a:cxn ang="0">
                    <a:pos x="339" y="173"/>
                  </a:cxn>
                  <a:cxn ang="0">
                    <a:pos x="355" y="181"/>
                  </a:cxn>
                  <a:cxn ang="0">
                    <a:pos x="370" y="189"/>
                  </a:cxn>
                  <a:cxn ang="0">
                    <a:pos x="386" y="189"/>
                  </a:cxn>
                  <a:cxn ang="0">
                    <a:pos x="402" y="189"/>
                  </a:cxn>
                  <a:cxn ang="0">
                    <a:pos x="426" y="189"/>
                  </a:cxn>
                  <a:cxn ang="0">
                    <a:pos x="441" y="189"/>
                  </a:cxn>
                  <a:cxn ang="0">
                    <a:pos x="457" y="173"/>
                  </a:cxn>
                  <a:cxn ang="0">
                    <a:pos x="473" y="157"/>
                  </a:cxn>
                  <a:cxn ang="0">
                    <a:pos x="489" y="141"/>
                  </a:cxn>
                  <a:cxn ang="0">
                    <a:pos x="505" y="133"/>
                  </a:cxn>
                </a:cxnLst>
                <a:rect l="0" t="0" r="r" b="b"/>
                <a:pathLst>
                  <a:path w="506" h="190">
                    <a:moveTo>
                      <a:pt x="0" y="141"/>
                    </a:moveTo>
                    <a:lnTo>
                      <a:pt x="15" y="133"/>
                    </a:lnTo>
                    <a:lnTo>
                      <a:pt x="23" y="118"/>
                    </a:lnTo>
                    <a:lnTo>
                      <a:pt x="39" y="110"/>
                    </a:lnTo>
                    <a:lnTo>
                      <a:pt x="47" y="94"/>
                    </a:lnTo>
                    <a:lnTo>
                      <a:pt x="55" y="78"/>
                    </a:lnTo>
                    <a:lnTo>
                      <a:pt x="71" y="70"/>
                    </a:lnTo>
                    <a:lnTo>
                      <a:pt x="78" y="55"/>
                    </a:lnTo>
                    <a:lnTo>
                      <a:pt x="94" y="47"/>
                    </a:lnTo>
                    <a:lnTo>
                      <a:pt x="110" y="39"/>
                    </a:lnTo>
                    <a:lnTo>
                      <a:pt x="118" y="23"/>
                    </a:lnTo>
                    <a:lnTo>
                      <a:pt x="134" y="15"/>
                    </a:lnTo>
                    <a:lnTo>
                      <a:pt x="149" y="7"/>
                    </a:lnTo>
                    <a:lnTo>
                      <a:pt x="165" y="0"/>
                    </a:lnTo>
                    <a:lnTo>
                      <a:pt x="181" y="0"/>
                    </a:lnTo>
                    <a:lnTo>
                      <a:pt x="197" y="15"/>
                    </a:lnTo>
                    <a:lnTo>
                      <a:pt x="213" y="31"/>
                    </a:lnTo>
                    <a:lnTo>
                      <a:pt x="228" y="47"/>
                    </a:lnTo>
                    <a:lnTo>
                      <a:pt x="236" y="63"/>
                    </a:lnTo>
                    <a:lnTo>
                      <a:pt x="252" y="70"/>
                    </a:lnTo>
                    <a:lnTo>
                      <a:pt x="260" y="86"/>
                    </a:lnTo>
                    <a:lnTo>
                      <a:pt x="268" y="102"/>
                    </a:lnTo>
                    <a:lnTo>
                      <a:pt x="284" y="118"/>
                    </a:lnTo>
                    <a:lnTo>
                      <a:pt x="299" y="133"/>
                    </a:lnTo>
                    <a:lnTo>
                      <a:pt x="315" y="149"/>
                    </a:lnTo>
                    <a:lnTo>
                      <a:pt x="331" y="157"/>
                    </a:lnTo>
                    <a:lnTo>
                      <a:pt x="339" y="173"/>
                    </a:lnTo>
                    <a:lnTo>
                      <a:pt x="355" y="181"/>
                    </a:lnTo>
                    <a:lnTo>
                      <a:pt x="370" y="189"/>
                    </a:lnTo>
                    <a:lnTo>
                      <a:pt x="386" y="189"/>
                    </a:lnTo>
                    <a:lnTo>
                      <a:pt x="402" y="189"/>
                    </a:lnTo>
                    <a:lnTo>
                      <a:pt x="426" y="189"/>
                    </a:lnTo>
                    <a:lnTo>
                      <a:pt x="441" y="189"/>
                    </a:lnTo>
                    <a:lnTo>
                      <a:pt x="457" y="173"/>
                    </a:lnTo>
                    <a:lnTo>
                      <a:pt x="473" y="157"/>
                    </a:lnTo>
                    <a:lnTo>
                      <a:pt x="489" y="141"/>
                    </a:lnTo>
                    <a:lnTo>
                      <a:pt x="505" y="133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5" name="Freeform 19"/>
              <p:cNvSpPr>
                <a:spLocks/>
              </p:cNvSpPr>
              <p:nvPr/>
            </p:nvSpPr>
            <p:spPr bwMode="auto">
              <a:xfrm flipH="1">
                <a:off x="7974014" y="5591544"/>
                <a:ext cx="814387" cy="101632"/>
              </a:xfrm>
              <a:custGeom>
                <a:avLst/>
                <a:gdLst/>
                <a:ahLst/>
                <a:cxnLst>
                  <a:cxn ang="0">
                    <a:pos x="0" y="42"/>
                  </a:cxn>
                  <a:cxn ang="0">
                    <a:pos x="15" y="42"/>
                  </a:cxn>
                  <a:cxn ang="0">
                    <a:pos x="39" y="35"/>
                  </a:cxn>
                  <a:cxn ang="0">
                    <a:pos x="55" y="35"/>
                  </a:cxn>
                  <a:cxn ang="0">
                    <a:pos x="70" y="27"/>
                  </a:cxn>
                  <a:cxn ang="0">
                    <a:pos x="94" y="20"/>
                  </a:cxn>
                  <a:cxn ang="0">
                    <a:pos x="110" y="13"/>
                  </a:cxn>
                  <a:cxn ang="0">
                    <a:pos x="126" y="6"/>
                  </a:cxn>
                  <a:cxn ang="0">
                    <a:pos x="141" y="6"/>
                  </a:cxn>
                  <a:cxn ang="0">
                    <a:pos x="157" y="0"/>
                  </a:cxn>
                  <a:cxn ang="0">
                    <a:pos x="173" y="0"/>
                  </a:cxn>
                  <a:cxn ang="0">
                    <a:pos x="189" y="0"/>
                  </a:cxn>
                  <a:cxn ang="0">
                    <a:pos x="204" y="0"/>
                  </a:cxn>
                  <a:cxn ang="0">
                    <a:pos x="220" y="0"/>
                  </a:cxn>
                  <a:cxn ang="0">
                    <a:pos x="236" y="6"/>
                  </a:cxn>
                  <a:cxn ang="0">
                    <a:pos x="252" y="6"/>
                  </a:cxn>
                  <a:cxn ang="0">
                    <a:pos x="267" y="20"/>
                  </a:cxn>
                  <a:cxn ang="0">
                    <a:pos x="283" y="20"/>
                  </a:cxn>
                  <a:cxn ang="0">
                    <a:pos x="299" y="27"/>
                  </a:cxn>
                  <a:cxn ang="0">
                    <a:pos x="315" y="27"/>
                  </a:cxn>
                  <a:cxn ang="0">
                    <a:pos x="330" y="35"/>
                  </a:cxn>
                  <a:cxn ang="0">
                    <a:pos x="346" y="42"/>
                  </a:cxn>
                  <a:cxn ang="0">
                    <a:pos x="362" y="49"/>
                  </a:cxn>
                  <a:cxn ang="0">
                    <a:pos x="378" y="49"/>
                  </a:cxn>
                  <a:cxn ang="0">
                    <a:pos x="393" y="56"/>
                  </a:cxn>
                  <a:cxn ang="0">
                    <a:pos x="385" y="49"/>
                  </a:cxn>
                  <a:cxn ang="0">
                    <a:pos x="401" y="56"/>
                  </a:cxn>
                  <a:cxn ang="0">
                    <a:pos x="417" y="56"/>
                  </a:cxn>
                  <a:cxn ang="0">
                    <a:pos x="441" y="63"/>
                  </a:cxn>
                  <a:cxn ang="0">
                    <a:pos x="472" y="63"/>
                  </a:cxn>
                  <a:cxn ang="0">
                    <a:pos x="488" y="63"/>
                  </a:cxn>
                  <a:cxn ang="0">
                    <a:pos x="512" y="63"/>
                  </a:cxn>
                </a:cxnLst>
                <a:rect l="0" t="0" r="r" b="b"/>
                <a:pathLst>
                  <a:path w="513" h="64">
                    <a:moveTo>
                      <a:pt x="0" y="42"/>
                    </a:moveTo>
                    <a:lnTo>
                      <a:pt x="15" y="42"/>
                    </a:lnTo>
                    <a:lnTo>
                      <a:pt x="39" y="35"/>
                    </a:lnTo>
                    <a:lnTo>
                      <a:pt x="55" y="35"/>
                    </a:lnTo>
                    <a:lnTo>
                      <a:pt x="70" y="27"/>
                    </a:lnTo>
                    <a:lnTo>
                      <a:pt x="94" y="20"/>
                    </a:lnTo>
                    <a:lnTo>
                      <a:pt x="110" y="13"/>
                    </a:lnTo>
                    <a:lnTo>
                      <a:pt x="126" y="6"/>
                    </a:lnTo>
                    <a:lnTo>
                      <a:pt x="141" y="6"/>
                    </a:lnTo>
                    <a:lnTo>
                      <a:pt x="157" y="0"/>
                    </a:lnTo>
                    <a:lnTo>
                      <a:pt x="173" y="0"/>
                    </a:lnTo>
                    <a:lnTo>
                      <a:pt x="189" y="0"/>
                    </a:lnTo>
                    <a:lnTo>
                      <a:pt x="204" y="0"/>
                    </a:lnTo>
                    <a:lnTo>
                      <a:pt x="220" y="0"/>
                    </a:lnTo>
                    <a:lnTo>
                      <a:pt x="236" y="6"/>
                    </a:lnTo>
                    <a:lnTo>
                      <a:pt x="252" y="6"/>
                    </a:lnTo>
                    <a:lnTo>
                      <a:pt x="267" y="20"/>
                    </a:lnTo>
                    <a:lnTo>
                      <a:pt x="283" y="20"/>
                    </a:lnTo>
                    <a:lnTo>
                      <a:pt x="299" y="27"/>
                    </a:lnTo>
                    <a:lnTo>
                      <a:pt x="315" y="27"/>
                    </a:lnTo>
                    <a:lnTo>
                      <a:pt x="330" y="35"/>
                    </a:lnTo>
                    <a:lnTo>
                      <a:pt x="346" y="42"/>
                    </a:lnTo>
                    <a:lnTo>
                      <a:pt x="362" y="49"/>
                    </a:lnTo>
                    <a:lnTo>
                      <a:pt x="378" y="49"/>
                    </a:lnTo>
                    <a:lnTo>
                      <a:pt x="393" y="56"/>
                    </a:lnTo>
                    <a:lnTo>
                      <a:pt x="385" y="49"/>
                    </a:lnTo>
                    <a:lnTo>
                      <a:pt x="401" y="56"/>
                    </a:lnTo>
                    <a:lnTo>
                      <a:pt x="417" y="56"/>
                    </a:lnTo>
                    <a:lnTo>
                      <a:pt x="441" y="63"/>
                    </a:lnTo>
                    <a:lnTo>
                      <a:pt x="472" y="63"/>
                    </a:lnTo>
                    <a:lnTo>
                      <a:pt x="488" y="63"/>
                    </a:lnTo>
                    <a:lnTo>
                      <a:pt x="512" y="63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7" name="Arc 21"/>
              <p:cNvSpPr>
                <a:spLocks/>
              </p:cNvSpPr>
              <p:nvPr/>
            </p:nvSpPr>
            <p:spPr bwMode="auto">
              <a:xfrm rot="-8580000">
                <a:off x="2757488" y="4419600"/>
                <a:ext cx="954087" cy="832112"/>
              </a:xfrm>
              <a:custGeom>
                <a:avLst/>
                <a:gdLst>
                  <a:gd name="T0" fmla="*/ 954087 w 21600"/>
                  <a:gd name="T1" fmla="*/ 0 h 21600"/>
                  <a:gd name="T2" fmla="*/ 0 w 21600"/>
                  <a:gd name="T3" fmla="*/ 83185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50800" cap="rnd">
                <a:solidFill>
                  <a:schemeClr val="tx1"/>
                </a:solidFill>
                <a:round/>
                <a:headEnd type="stealth" w="med" len="lg"/>
                <a:tailEnd type="none" w="sm" len="sm"/>
              </a:ln>
            </p:spPr>
            <p:txBody>
              <a:bodyPr rot="10800000" wrap="none" anchor="ctr"/>
              <a:lstStyle/>
              <a:p>
                <a:pPr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8" name="Arc 22"/>
              <p:cNvSpPr>
                <a:spLocks/>
              </p:cNvSpPr>
              <p:nvPr/>
            </p:nvSpPr>
            <p:spPr bwMode="auto">
              <a:xfrm rot="-8580000">
                <a:off x="4311650" y="4432304"/>
                <a:ext cx="954088" cy="832112"/>
              </a:xfrm>
              <a:custGeom>
                <a:avLst/>
                <a:gdLst>
                  <a:gd name="T0" fmla="*/ 954087 w 21600"/>
                  <a:gd name="T1" fmla="*/ 0 h 21600"/>
                  <a:gd name="T2" fmla="*/ 0 w 21600"/>
                  <a:gd name="T3" fmla="*/ 83185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50800" cap="rnd">
                <a:solidFill>
                  <a:schemeClr val="tx1"/>
                </a:solidFill>
                <a:round/>
                <a:headEnd type="stealth" w="med" len="lg"/>
                <a:tailEnd type="none" w="sm" len="sm"/>
              </a:ln>
            </p:spPr>
            <p:txBody>
              <a:bodyPr rot="10800000" wrap="none" anchor="ctr"/>
              <a:lstStyle/>
              <a:p>
                <a:pPr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9" name="Arc 23"/>
              <p:cNvSpPr>
                <a:spLocks/>
              </p:cNvSpPr>
              <p:nvPr/>
            </p:nvSpPr>
            <p:spPr bwMode="auto">
              <a:xfrm rot="-8580000">
                <a:off x="5851526" y="4445008"/>
                <a:ext cx="954088" cy="832112"/>
              </a:xfrm>
              <a:custGeom>
                <a:avLst/>
                <a:gdLst>
                  <a:gd name="T0" fmla="*/ 954087 w 21600"/>
                  <a:gd name="T1" fmla="*/ 0 h 21641"/>
                  <a:gd name="T2" fmla="*/ 0 w 21600"/>
                  <a:gd name="T3" fmla="*/ 831850 h 21641"/>
                  <a:gd name="T4" fmla="*/ 0 w 21600"/>
                  <a:gd name="T5" fmla="*/ 1576 h 21641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41"/>
                  <a:gd name="T11" fmla="*/ 21600 w 21600"/>
                  <a:gd name="T12" fmla="*/ 21641 h 2164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41" fill="none" extrusionOk="0">
                    <a:moveTo>
                      <a:pt x="21599" y="0"/>
                    </a:moveTo>
                    <a:cubicBezTo>
                      <a:pt x="21599" y="13"/>
                      <a:pt x="21600" y="27"/>
                      <a:pt x="21600" y="41"/>
                    </a:cubicBezTo>
                    <a:cubicBezTo>
                      <a:pt x="21600" y="11970"/>
                      <a:pt x="11929" y="21640"/>
                      <a:pt x="0" y="21641"/>
                    </a:cubicBezTo>
                  </a:path>
                  <a:path w="21600" h="21641" stroke="0" extrusionOk="0">
                    <a:moveTo>
                      <a:pt x="21599" y="0"/>
                    </a:moveTo>
                    <a:cubicBezTo>
                      <a:pt x="21599" y="13"/>
                      <a:pt x="21600" y="27"/>
                      <a:pt x="21600" y="41"/>
                    </a:cubicBezTo>
                    <a:cubicBezTo>
                      <a:pt x="21600" y="11970"/>
                      <a:pt x="11929" y="21640"/>
                      <a:pt x="0" y="21641"/>
                    </a:cubicBezTo>
                    <a:lnTo>
                      <a:pt x="0" y="41"/>
                    </a:lnTo>
                    <a:close/>
                  </a:path>
                </a:pathLst>
              </a:custGeom>
              <a:noFill/>
              <a:ln w="50800" cap="rnd">
                <a:solidFill>
                  <a:schemeClr val="tx1"/>
                </a:solidFill>
                <a:round/>
                <a:headEnd type="stealth" w="med" len="lg"/>
                <a:tailEnd type="none" w="sm" len="sm"/>
              </a:ln>
            </p:spPr>
            <p:txBody>
              <a:bodyPr rot="10800000" wrap="none" anchor="ctr"/>
              <a:lstStyle/>
              <a:p>
                <a:pPr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0" name="Arc 24"/>
              <p:cNvSpPr>
                <a:spLocks/>
              </p:cNvSpPr>
              <p:nvPr/>
            </p:nvSpPr>
            <p:spPr bwMode="auto">
              <a:xfrm rot="-8580000">
                <a:off x="7242176" y="4445008"/>
                <a:ext cx="954088" cy="832112"/>
              </a:xfrm>
              <a:custGeom>
                <a:avLst/>
                <a:gdLst>
                  <a:gd name="T0" fmla="*/ 954087 w 21600"/>
                  <a:gd name="T1" fmla="*/ 0 h 21641"/>
                  <a:gd name="T2" fmla="*/ 0 w 21600"/>
                  <a:gd name="T3" fmla="*/ 831850 h 21641"/>
                  <a:gd name="T4" fmla="*/ 0 w 21600"/>
                  <a:gd name="T5" fmla="*/ 1576 h 21641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41"/>
                  <a:gd name="T11" fmla="*/ 21600 w 21600"/>
                  <a:gd name="T12" fmla="*/ 21641 h 2164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41" fill="none" extrusionOk="0">
                    <a:moveTo>
                      <a:pt x="21599" y="0"/>
                    </a:moveTo>
                    <a:cubicBezTo>
                      <a:pt x="21599" y="13"/>
                      <a:pt x="21600" y="27"/>
                      <a:pt x="21600" y="41"/>
                    </a:cubicBezTo>
                    <a:cubicBezTo>
                      <a:pt x="21600" y="11970"/>
                      <a:pt x="11929" y="21640"/>
                      <a:pt x="0" y="21641"/>
                    </a:cubicBezTo>
                  </a:path>
                  <a:path w="21600" h="21641" stroke="0" extrusionOk="0">
                    <a:moveTo>
                      <a:pt x="21599" y="0"/>
                    </a:moveTo>
                    <a:cubicBezTo>
                      <a:pt x="21599" y="13"/>
                      <a:pt x="21600" y="27"/>
                      <a:pt x="21600" y="41"/>
                    </a:cubicBezTo>
                    <a:cubicBezTo>
                      <a:pt x="21600" y="11970"/>
                      <a:pt x="11929" y="21640"/>
                      <a:pt x="0" y="21641"/>
                    </a:cubicBezTo>
                    <a:lnTo>
                      <a:pt x="0" y="41"/>
                    </a:lnTo>
                    <a:close/>
                  </a:path>
                </a:pathLst>
              </a:custGeom>
              <a:noFill/>
              <a:ln w="50800" cap="rnd">
                <a:solidFill>
                  <a:schemeClr val="tx1"/>
                </a:solidFill>
                <a:round/>
                <a:headEnd type="stealth" w="med" len="lg"/>
                <a:tailEnd type="none" w="sm" len="sm"/>
              </a:ln>
            </p:spPr>
            <p:txBody>
              <a:bodyPr rot="10800000" wrap="none" anchor="ctr"/>
              <a:lstStyle/>
              <a:p>
                <a:pPr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6" name="Freeform 30"/>
              <p:cNvSpPr>
                <a:spLocks/>
              </p:cNvSpPr>
              <p:nvPr/>
            </p:nvSpPr>
            <p:spPr bwMode="auto">
              <a:xfrm flipH="1">
                <a:off x="6457951" y="5566136"/>
                <a:ext cx="928688" cy="201677"/>
              </a:xfrm>
              <a:custGeom>
                <a:avLst/>
                <a:gdLst/>
                <a:ahLst/>
                <a:cxnLst>
                  <a:cxn ang="0">
                    <a:pos x="0" y="98"/>
                  </a:cxn>
                  <a:cxn ang="0">
                    <a:pos x="15" y="98"/>
                  </a:cxn>
                  <a:cxn ang="0">
                    <a:pos x="23" y="83"/>
                  </a:cxn>
                  <a:cxn ang="0">
                    <a:pos x="39" y="76"/>
                  </a:cxn>
                  <a:cxn ang="0">
                    <a:pos x="55" y="69"/>
                  </a:cxn>
                  <a:cxn ang="0">
                    <a:pos x="71" y="63"/>
                  </a:cxn>
                  <a:cxn ang="0">
                    <a:pos x="86" y="56"/>
                  </a:cxn>
                  <a:cxn ang="0">
                    <a:pos x="102" y="49"/>
                  </a:cxn>
                  <a:cxn ang="0">
                    <a:pos x="118" y="42"/>
                  </a:cxn>
                  <a:cxn ang="0">
                    <a:pos x="126" y="27"/>
                  </a:cxn>
                  <a:cxn ang="0">
                    <a:pos x="142" y="27"/>
                  </a:cxn>
                  <a:cxn ang="0">
                    <a:pos x="149" y="13"/>
                  </a:cxn>
                  <a:cxn ang="0">
                    <a:pos x="165" y="13"/>
                  </a:cxn>
                  <a:cxn ang="0">
                    <a:pos x="181" y="6"/>
                  </a:cxn>
                  <a:cxn ang="0">
                    <a:pos x="197" y="0"/>
                  </a:cxn>
                  <a:cxn ang="0">
                    <a:pos x="213" y="0"/>
                  </a:cxn>
                  <a:cxn ang="0">
                    <a:pos x="228" y="6"/>
                  </a:cxn>
                  <a:cxn ang="0">
                    <a:pos x="244" y="13"/>
                  </a:cxn>
                  <a:cxn ang="0">
                    <a:pos x="260" y="20"/>
                  </a:cxn>
                  <a:cxn ang="0">
                    <a:pos x="276" y="27"/>
                  </a:cxn>
                  <a:cxn ang="0">
                    <a:pos x="292" y="35"/>
                  </a:cxn>
                  <a:cxn ang="0">
                    <a:pos x="307" y="49"/>
                  </a:cxn>
                  <a:cxn ang="0">
                    <a:pos x="323" y="56"/>
                  </a:cxn>
                  <a:cxn ang="0">
                    <a:pos x="331" y="69"/>
                  </a:cxn>
                  <a:cxn ang="0">
                    <a:pos x="347" y="76"/>
                  </a:cxn>
                  <a:cxn ang="0">
                    <a:pos x="363" y="83"/>
                  </a:cxn>
                  <a:cxn ang="0">
                    <a:pos x="363" y="98"/>
                  </a:cxn>
                  <a:cxn ang="0">
                    <a:pos x="378" y="105"/>
                  </a:cxn>
                  <a:cxn ang="0">
                    <a:pos x="394" y="112"/>
                  </a:cxn>
                  <a:cxn ang="0">
                    <a:pos x="410" y="126"/>
                  </a:cxn>
                  <a:cxn ang="0">
                    <a:pos x="426" y="126"/>
                  </a:cxn>
                  <a:cxn ang="0">
                    <a:pos x="441" y="126"/>
                  </a:cxn>
                  <a:cxn ang="0">
                    <a:pos x="457" y="126"/>
                  </a:cxn>
                  <a:cxn ang="0">
                    <a:pos x="473" y="126"/>
                  </a:cxn>
                  <a:cxn ang="0">
                    <a:pos x="489" y="119"/>
                  </a:cxn>
                  <a:cxn ang="0">
                    <a:pos x="505" y="119"/>
                  </a:cxn>
                  <a:cxn ang="0">
                    <a:pos x="520" y="112"/>
                  </a:cxn>
                  <a:cxn ang="0">
                    <a:pos x="536" y="105"/>
                  </a:cxn>
                  <a:cxn ang="0">
                    <a:pos x="552" y="105"/>
                  </a:cxn>
                  <a:cxn ang="0">
                    <a:pos x="568" y="98"/>
                  </a:cxn>
                  <a:cxn ang="0">
                    <a:pos x="584" y="90"/>
                  </a:cxn>
                </a:cxnLst>
                <a:rect l="0" t="0" r="r" b="b"/>
                <a:pathLst>
                  <a:path w="585" h="127">
                    <a:moveTo>
                      <a:pt x="0" y="98"/>
                    </a:moveTo>
                    <a:lnTo>
                      <a:pt x="15" y="98"/>
                    </a:lnTo>
                    <a:lnTo>
                      <a:pt x="23" y="83"/>
                    </a:lnTo>
                    <a:lnTo>
                      <a:pt x="39" y="76"/>
                    </a:lnTo>
                    <a:lnTo>
                      <a:pt x="55" y="69"/>
                    </a:lnTo>
                    <a:lnTo>
                      <a:pt x="71" y="63"/>
                    </a:lnTo>
                    <a:lnTo>
                      <a:pt x="86" y="56"/>
                    </a:lnTo>
                    <a:lnTo>
                      <a:pt x="102" y="49"/>
                    </a:lnTo>
                    <a:lnTo>
                      <a:pt x="118" y="42"/>
                    </a:lnTo>
                    <a:lnTo>
                      <a:pt x="126" y="27"/>
                    </a:lnTo>
                    <a:lnTo>
                      <a:pt x="142" y="27"/>
                    </a:lnTo>
                    <a:lnTo>
                      <a:pt x="149" y="13"/>
                    </a:lnTo>
                    <a:lnTo>
                      <a:pt x="165" y="13"/>
                    </a:lnTo>
                    <a:lnTo>
                      <a:pt x="181" y="6"/>
                    </a:lnTo>
                    <a:lnTo>
                      <a:pt x="197" y="0"/>
                    </a:lnTo>
                    <a:lnTo>
                      <a:pt x="213" y="0"/>
                    </a:lnTo>
                    <a:lnTo>
                      <a:pt x="228" y="6"/>
                    </a:lnTo>
                    <a:lnTo>
                      <a:pt x="244" y="13"/>
                    </a:lnTo>
                    <a:lnTo>
                      <a:pt x="260" y="20"/>
                    </a:lnTo>
                    <a:lnTo>
                      <a:pt x="276" y="27"/>
                    </a:lnTo>
                    <a:lnTo>
                      <a:pt x="292" y="35"/>
                    </a:lnTo>
                    <a:lnTo>
                      <a:pt x="307" y="49"/>
                    </a:lnTo>
                    <a:lnTo>
                      <a:pt x="323" y="56"/>
                    </a:lnTo>
                    <a:lnTo>
                      <a:pt x="331" y="69"/>
                    </a:lnTo>
                    <a:lnTo>
                      <a:pt x="347" y="76"/>
                    </a:lnTo>
                    <a:lnTo>
                      <a:pt x="363" y="83"/>
                    </a:lnTo>
                    <a:lnTo>
                      <a:pt x="363" y="98"/>
                    </a:lnTo>
                    <a:lnTo>
                      <a:pt x="378" y="105"/>
                    </a:lnTo>
                    <a:lnTo>
                      <a:pt x="394" y="112"/>
                    </a:lnTo>
                    <a:lnTo>
                      <a:pt x="410" y="126"/>
                    </a:lnTo>
                    <a:lnTo>
                      <a:pt x="426" y="126"/>
                    </a:lnTo>
                    <a:lnTo>
                      <a:pt x="441" y="126"/>
                    </a:lnTo>
                    <a:lnTo>
                      <a:pt x="457" y="126"/>
                    </a:lnTo>
                    <a:lnTo>
                      <a:pt x="473" y="126"/>
                    </a:lnTo>
                    <a:lnTo>
                      <a:pt x="489" y="119"/>
                    </a:lnTo>
                    <a:lnTo>
                      <a:pt x="505" y="119"/>
                    </a:lnTo>
                    <a:lnTo>
                      <a:pt x="520" y="112"/>
                    </a:lnTo>
                    <a:lnTo>
                      <a:pt x="536" y="105"/>
                    </a:lnTo>
                    <a:lnTo>
                      <a:pt x="552" y="105"/>
                    </a:lnTo>
                    <a:lnTo>
                      <a:pt x="568" y="98"/>
                    </a:lnTo>
                    <a:lnTo>
                      <a:pt x="584" y="9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20487" name="Rectangle 10"/>
            <p:cNvSpPr>
              <a:spLocks noChangeArrowheads="1"/>
            </p:cNvSpPr>
            <p:nvPr/>
          </p:nvSpPr>
          <p:spPr bwMode="auto">
            <a:xfrm flipH="1">
              <a:off x="3962400" y="5715576"/>
              <a:ext cx="1524001" cy="397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488" tIns="46038" rIns="90488" bIns="46038">
              <a:spAutoFit/>
            </a:bodyPr>
            <a:lstStyle/>
            <a:p>
              <a:pPr defTabSz="889000" eaLnBrk="0" hangingPunct="0"/>
              <a:r>
                <a:rPr lang="en-US" sz="2000">
                  <a:latin typeface="Arial" charset="0"/>
                  <a:cs typeface="Arial" charset="0"/>
                </a:rPr>
                <a:t>Wholesaler</a:t>
              </a:r>
            </a:p>
          </p:txBody>
        </p:sp>
      </p:grp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9455" y="261626"/>
            <a:ext cx="2403739" cy="1802804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Bullwhip Effect</a:t>
            </a:r>
          </a:p>
        </p:txBody>
      </p:sp>
    </p:spTree>
    <p:extLst>
      <p:ext uri="{BB962C8B-B14F-4D97-AF65-F5344CB8AC3E}">
        <p14:creationId xmlns:p14="http://schemas.microsoft.com/office/powerpoint/2010/main" val="17376783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Decentralized SC with Buy-Back Contract</a:t>
            </a:r>
            <a:endParaRPr lang="en-US" altLang="en-US" dirty="0"/>
          </a:p>
        </p:txBody>
      </p:sp>
      <p:sp>
        <p:nvSpPr>
          <p:cNvPr id="4136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At the end of the selling season, college apparel will </a:t>
            </a:r>
            <a:r>
              <a:rPr lang="en-US" altLang="zh-CN" b="1" dirty="0">
                <a:solidFill>
                  <a:srgbClr val="FF0000"/>
                </a:solidFill>
              </a:rPr>
              <a:t>buy back </a:t>
            </a:r>
            <a:r>
              <a:rPr lang="en-US" altLang="zh-CN" dirty="0"/>
              <a:t>unsold jerseys at a pre-determined price of $45 each.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 dirty="0"/>
              <a:t>Cost for Purdue Store: wholesale price W = $75</a:t>
            </a:r>
          </a:p>
          <a:p>
            <a:pPr lvl="1">
              <a:lnSpc>
                <a:spcPct val="150000"/>
              </a:lnSpc>
            </a:pPr>
            <a:r>
              <a:rPr lang="en-US" altLang="en-US" dirty="0"/>
              <a:t>Selling price for Purdue Store: R = $125</a:t>
            </a:r>
          </a:p>
          <a:p>
            <a:pPr lvl="1">
              <a:lnSpc>
                <a:spcPct val="150000"/>
              </a:lnSpc>
            </a:pPr>
            <a:r>
              <a:rPr lang="en-US" altLang="en-US" dirty="0"/>
              <a:t>Salvage value for Purdue Store: </a:t>
            </a:r>
            <a:r>
              <a:rPr lang="en-US" altLang="en-US" b="1" dirty="0">
                <a:solidFill>
                  <a:srgbClr val="FF0000"/>
                </a:solidFill>
              </a:rPr>
              <a:t>B = $45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dirty="0"/>
              <a:t>Purdue Store’s critical ratio under the buy-back contract: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8E3EF-C80D-49E0-8052-F88DD61DA98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940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GMT36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GMT361" id="{E799DCDC-7AFB-40E7-9E4C-EF9C97784005}" vid="{CB4A48B6-B632-420A-AF56-497D3FD0BF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MGMT361</Template>
  <TotalTime>6128</TotalTime>
  <Words>2385</Words>
  <Application>Microsoft Office PowerPoint</Application>
  <PresentationFormat>On-screen Show (4:3)</PresentationFormat>
  <Paragraphs>457</Paragraphs>
  <Slides>31</Slides>
  <Notes>24</Notes>
  <HiddenSlides>6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1" baseType="lpstr">
      <vt:lpstr>Arial</vt:lpstr>
      <vt:lpstr>Book Antiqua</vt:lpstr>
      <vt:lpstr>Calibri</vt:lpstr>
      <vt:lpstr>Cambria Math</vt:lpstr>
      <vt:lpstr>Comic Sans MS</vt:lpstr>
      <vt:lpstr>Symbol</vt:lpstr>
      <vt:lpstr>Times New Roman</vt:lpstr>
      <vt:lpstr>Wingdings</vt:lpstr>
      <vt:lpstr>MGMT361</vt:lpstr>
      <vt:lpstr>Clip</vt:lpstr>
      <vt:lpstr>MGMT 361 Operations Management</vt:lpstr>
      <vt:lpstr>Where we are … </vt:lpstr>
      <vt:lpstr>Supply Chain Management</vt:lpstr>
      <vt:lpstr>Today’s Class</vt:lpstr>
      <vt:lpstr>Incentive Conflicts </vt:lpstr>
      <vt:lpstr>Example: Purdue Apparel Supply Chain</vt:lpstr>
      <vt:lpstr>Purdue Apparel Supply Chain – Centralized</vt:lpstr>
      <vt:lpstr>Purdue Apparel Supply Chain – Centralized</vt:lpstr>
      <vt:lpstr>Purdue Apparel Supply Chain – Decentralized</vt:lpstr>
      <vt:lpstr>Purdue Apparel Supply Chain – Decentralized</vt:lpstr>
      <vt:lpstr>Purdue Apparel Supply Chain – Decentralized</vt:lpstr>
      <vt:lpstr>Purdue Apparel Supply Chain – Centralized</vt:lpstr>
      <vt:lpstr>Purdue Apparel Supply Chain – Centralized</vt:lpstr>
      <vt:lpstr>Purdue Apparel Supply Chain – Decentralized</vt:lpstr>
      <vt:lpstr>Purdue Apparel Supply Chain – Decentralized</vt:lpstr>
      <vt:lpstr>Purdue Apparel Supply Chain – Decentralized</vt:lpstr>
      <vt:lpstr>Purdue Apparel Supply Chain – Observations</vt:lpstr>
      <vt:lpstr>Incentive Conflicts </vt:lpstr>
      <vt:lpstr>Supply Chain Coordination</vt:lpstr>
      <vt:lpstr>Supply Chain Coordination by Buy-Back Contract</vt:lpstr>
      <vt:lpstr>Supply Chain Coordination by Buy-Back Contract</vt:lpstr>
      <vt:lpstr>In-class Exercise: Calculate Purdue Store’s Profit</vt:lpstr>
      <vt:lpstr>In-class Exercise: Calculate College Apparel’s Profit</vt:lpstr>
      <vt:lpstr>Calculate Purdue Store’s Profit</vt:lpstr>
      <vt:lpstr>Calculate College Apparel’s Profit</vt:lpstr>
      <vt:lpstr>Supply Chain Coordination</vt:lpstr>
      <vt:lpstr>Summary</vt:lpstr>
      <vt:lpstr>PowerPoint Presentation</vt:lpstr>
      <vt:lpstr>Buy-Back Contracts</vt:lpstr>
      <vt:lpstr>Recap: Bullwhip Effect</vt:lpstr>
      <vt:lpstr>Decentralized SC with Buy-Back Contract</vt:lpstr>
    </vt:vector>
  </TitlesOfParts>
  <Company>Purdue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Shi, Pengyi</dc:creator>
  <cp:lastModifiedBy>Shi, Pengyi</cp:lastModifiedBy>
  <cp:revision>1371</cp:revision>
  <cp:lastPrinted>2025-04-11T01:39:58Z</cp:lastPrinted>
  <dcterms:created xsi:type="dcterms:W3CDTF">2014-04-18T19:35:34Z</dcterms:created>
  <dcterms:modified xsi:type="dcterms:W3CDTF">2025-04-11T20:04:26Z</dcterms:modified>
</cp:coreProperties>
</file>